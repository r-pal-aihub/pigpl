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319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PiGPL stands for Python-inspired General Purpose Language. I built the language and a full compiler for it, plus a web app that shows every phase of the compiler while it works. The screenshot is the real app: the editor on the left, the stage tabs and the token stream on the right, and the replay bar at the bottom.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choice: every compiler phase writes to one shared event log. The lexer logs each token, the parser logs each grammar rule it reduces, the semantic phase logs each check, the IR generator logs each instruction. Because every event carries a source location, the app can highlight the exact code that caused it, and the replay bar can move through the whole compilation in order. The pipeline itself is a plain function, compile(source), in pipeline.ts, so the same code runs in the tests and in the browser.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Lexer (lexer.ts): a hand-written scanner. It skips spaces and # comments, reads numbers (int or float), strings with escape codes, and identifiers, then checks a keyword table. Two-character operators are checked before one-character ones, which is the longest-match rule from lexical analysis. Errors do not stop the scan. Parser (parser.ts): recursive descent, as in top-down parsing. Each grammar level calls the next tighter level, so * binds tighter than + without any precedence table. The grammar uses repetition instead of left recursion, which a top-down parser cannot handle. Most decisions need one token of lookahead; a statement that starts with a name needs two, to tell x = ..., x[...] = ... and f(...) apart. Panic-mode recovery skips tokens until a statement-start token, so one mistake does not hide the rest of the errors. The AST picture is the real output for the If/else sample.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symbol table (symbol-table.ts) keeps every declared name with its type, scope and kind. Scopes are a stack: global, then fn:add inside a function, then for:i:10 inside a loop (the number is the loop's position, so two loops never clash). The semantic pass (semantic.ts) walks the AST, fills the table and records each check as passed or failed, so the Semantic tab shows a green tick or red cross per check. Every failed check is also a phase-tagged error with line and column, like the undeclared y shown here. If any semantic error exists, the Execute stage does not run.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 generation (ir.ts) walks the AST and emits quadruples. Every literal and every sub-expression gets a temporary t0, t1 and so on. Control flow is lowered with labels: an if becomes ifFalse cond goto L1, then-block, goto L0, L1: else-block, L0:. A for over a number becomes a counter loop; a for over a list or string uses an index and len. Functions become func ... endfunc blocks with param and call. The optimizer (optimizer.ts) does local, peephole-style passes: constant folding, constant propagation, algebraic simplification (x+0, x*1, x*0, x/1) and dead-code elimination of unused temporaries. It runs again until a round makes no change, with a limit of 6 rounds. The screenshot is the Constant-fold sample: let x = 2 + 3 * 4 and let y = x * 1 + 0 go from 14 instructions to 5, and x and y both become 14.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running compile() on every sample program in the project. The 10 valid samples have 166 TAC instructions before optimization and 133 after, about 20 percent fewer. The gain depends on how much constant math a program has: the Constant-fold sample drops 64 percent, while Lists and Functions do not change, because their values are only known at run time. All 13 tests in pipeline.test.ts pass (node --test). The recursive factorial sample prints 120, which shows that param, call and return work with a real call stack. The three error samples are each caught by the expected phase: the @ character by the lexer, the missing expression by the parser, and the undeclared name by the semantic checks.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list the limits openly because they show where the design stops. Functions get their own frame, so an assignment to a global inside a function is lost. Division always gives a decimal. Divide by zero and an out-of-range index return 0 instead of a runtime error. The optimizer works inside one basic block and only rewrites assignments and arithmetic, so a constant is not pushed into a print, return or param operand. The next steps follow the course order: first make the run-time behaviour strict, then build a control-flow graph to allow global optimizations, and last, generate real target code with register allocation. Thank you; I can show a live demo of any sample program.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975299"/>
            <a:ext cx="10566425" cy="467361"/>
          </a:xfrm>
          <a:prstGeom prst="rect">
            <a:avLst/>
          </a:prstGeom>
          <a:noFill/>
          <a:ln/>
        </p:spPr>
        <p:txBody>
          <a:bodyPr wrap="square" lIns="0" tIns="0" rIns="0" bIns="0" rtlCol="0" anchor="t"/>
          <a:lstStyle>
            <a:lvl1pPr marL="0" indent="0" algn="l">
              <a:lnSpc>
                <a:spcPct val="115000"/>
              </a:lnSpc>
              <a:buNone/>
              <a:defRPr lang="en-US" sz="3200" dirty="0">
                <a:solidFill>
                  <a:srgbClr val="161A21"/>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4" y="1747460"/>
            <a:ext cx="10566426" cy="4297740"/>
          </a:xfrm>
          <a:prstGeom prst="rect">
            <a:avLst/>
          </a:prstGeom>
          <a:noFill/>
          <a:ln/>
        </p:spPr>
        <p:txBody>
          <a:bodyPr wrap="square" lIns="0" tIns="0" rIns="0" bIns="0" rtlCol="0" anchor="t"/>
          <a:lstStyle>
            <a:lvl1pPr marL="0" indent="0" algn="l">
              <a:lnSpc>
                <a:spcPct val="140000"/>
              </a:lnSpc>
              <a:buNone/>
              <a:defRPr lang="en-US" sz="1600" dirty="0">
                <a:solidFill>
                  <a:srgbClr val="161A21"/>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975299"/>
            <a:ext cx="10566425" cy="467361"/>
          </a:xfrm>
          <a:prstGeom prst="rect">
            <a:avLst/>
          </a:prstGeom>
          <a:noFill/>
          <a:ln/>
        </p:spPr>
        <p:txBody>
          <a:bodyPr wrap="square" lIns="0" tIns="0" rIns="0" bIns="0" rtlCol="0" anchor="t"/>
          <a:lstStyle>
            <a:lvl1pPr marL="0" indent="0" algn="l">
              <a:lnSpc>
                <a:spcPct val="115000"/>
              </a:lnSpc>
              <a:buNone/>
              <a:defRPr lang="en-US" sz="3200" dirty="0">
                <a:solidFill>
                  <a:srgbClr val="161A21"/>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4" y="1747460"/>
            <a:ext cx="10566426" cy="4297740"/>
          </a:xfrm>
          <a:prstGeom prst="rect">
            <a:avLst/>
          </a:prstGeom>
          <a:noFill/>
          <a:ln/>
        </p:spPr>
        <p:txBody>
          <a:bodyPr wrap="square" lIns="0" tIns="0" rIns="0" bIns="0" rtlCol="0" anchor="t"/>
          <a:lstStyle>
            <a:lvl1pPr marL="0" indent="0" algn="l">
              <a:lnSpc>
                <a:spcPct val="140000"/>
              </a:lnSpc>
              <a:buNone/>
              <a:defRPr lang="en-US" sz="1600" dirty="0">
                <a:solidFill>
                  <a:srgbClr val="161A21"/>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B"/>
        </a:solidFill>
        <a:effectLst/>
      </p:bgPr>
    </p:bg>
    <p:spTree>
      <p:nvGrpSpPr>
        <p:cNvPr id="1" name=""/>
        <p:cNvGrpSpPr/>
        <p:nvPr/>
      </p:nvGrpSpPr>
      <p:grpSpPr>
        <a:xfrm>
          <a:off x="0" y="0"/>
          <a:ext cx="0" cy="0"/>
          <a:chOff x="0" y="0"/>
          <a:chExt cx="0" cy="0"/>
        </a:xfrm>
      </p:grpSpPr>
      <p:sp>
        <p:nvSpPr>
          <p:cNvPr id="2" name="Shape 0"/>
          <p:cNvSpPr/>
          <p:nvPr/>
        </p:nvSpPr>
        <p:spPr>
          <a:xfrm>
            <a:off x="0" y="0"/>
            <a:ext cx="12191973" cy="50794"/>
          </a:xfrm>
          <a:prstGeom prst="rect">
            <a:avLst/>
          </a:prstGeom>
          <a:solidFill>
            <a:srgbClr val="F2A541"/>
          </a:solidFill>
          <a:ln/>
        </p:spPr>
      </p:sp>
      <p:sp>
        <p:nvSpPr>
          <p:cNvPr id="3" name="Text 1"/>
          <p:cNvSpPr/>
          <p:nvPr/>
        </p:nvSpPr>
        <p:spPr>
          <a:xfrm>
            <a:off x="812774" y="1455269"/>
            <a:ext cx="4447524"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2A541"/>
                </a:solidFill>
                <a:latin typeface="JetBrains Mono" pitchFamily="49" charset="0"/>
                <a:ea typeface="JetBrains Mono" pitchFamily="49" charset="-122"/>
                <a:cs typeface="JetBrains Mono" pitchFamily="49" charset="-120"/>
              </a:rPr>
              <a:t>BCSE307L · COMPILER DESIGN</a:t>
            </a:r>
            <a:endParaRPr lang="en-US" sz="1200" dirty="0"/>
          </a:p>
        </p:txBody>
      </p:sp>
      <p:sp>
        <p:nvSpPr>
          <p:cNvPr id="4" name="Text 2"/>
          <p:cNvSpPr>
            <a:spLocks noGrp="1"/>
          </p:cNvSpPr>
          <p:nvPr>
            <p:ph type="title"/>
          </p:nvPr>
        </p:nvSpPr>
        <p:spPr>
          <a:xfrm>
            <a:off x="812774" y="1846331"/>
            <a:ext cx="4447524" cy="939834"/>
          </a:xfrm>
          <a:prstGeom prst="rect">
            <a:avLst/>
          </a:prstGeom>
          <a:noFill/>
          <a:ln/>
        </p:spPr>
        <p:txBody>
          <a:bodyPr wrap="square" lIns="0" tIns="0" rIns="0" bIns="0" rtlCol="0" anchor="t">
            <a:normAutofit/>
          </a:bodyPr>
          <a:lstStyle/>
          <a:p>
            <a:pPr marL="0" indent="0" algn="l">
              <a:lnSpc>
                <a:spcPts val="7200"/>
              </a:lnSpc>
              <a:buNone/>
            </a:pPr>
            <a:r>
              <a:rPr lang="en-US" sz="7200" b="1" i="0" kern="0" spc="-100" dirty="0">
                <a:solidFill>
                  <a:srgbClr val="EEF0F3"/>
                </a:solidFill>
                <a:latin typeface="IBM Plex Sans" pitchFamily="34" charset="0"/>
                <a:ea typeface="IBM Plex Sans" pitchFamily="34" charset="-122"/>
                <a:cs typeface="IBM Plex Sans" pitchFamily="34" charset="-120"/>
              </a:rPr>
              <a:t>PiGPL</a:t>
            </a:r>
            <a:endParaRPr lang="en-US" sz="7200" dirty="0"/>
          </a:p>
        </p:txBody>
      </p:sp>
      <p:sp>
        <p:nvSpPr>
          <p:cNvPr id="5" name="Text 3"/>
          <p:cNvSpPr/>
          <p:nvPr/>
        </p:nvSpPr>
        <p:spPr>
          <a:xfrm>
            <a:off x="812774" y="2938507"/>
            <a:ext cx="4447524" cy="660287"/>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EEF0F3"/>
                </a:solidFill>
                <a:latin typeface="IBM Plex Sans" pitchFamily="34" charset="0"/>
                <a:ea typeface="IBM Plex Sans" pitchFamily="34" charset="-122"/>
                <a:cs typeface="IBM Plex Sans" pitchFamily="34" charset="-120"/>
              </a:rPr>
              <a:t>A visual compiler for a Python-inspired language</a:t>
            </a:r>
            <a:endParaRPr lang="en-US" sz="2000" dirty="0"/>
          </a:p>
        </p:txBody>
      </p:sp>
      <p:sp>
        <p:nvSpPr>
          <p:cNvPr id="6" name="Text 4"/>
          <p:cNvSpPr/>
          <p:nvPr/>
        </p:nvSpPr>
        <p:spPr>
          <a:xfrm>
            <a:off x="812774" y="3751137"/>
            <a:ext cx="4447524" cy="798829"/>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A9B1BD"/>
                </a:solidFill>
                <a:latin typeface="IBM Plex Sans" pitchFamily="34" charset="0"/>
                <a:ea typeface="IBM Plex Sans" pitchFamily="34" charset="-122"/>
                <a:cs typeface="IBM Plex Sans" pitchFamily="34" charset="-120"/>
              </a:rPr>
              <a:t>Source code becomes tokens, a tree, three-address code, optimized code and output — and every step can be replayed.</a:t>
            </a:r>
            <a:endParaRPr lang="en-US" sz="1400" dirty="0"/>
          </a:p>
        </p:txBody>
      </p:sp>
      <p:sp>
        <p:nvSpPr>
          <p:cNvPr id="7" name="Shape 5"/>
          <p:cNvSpPr/>
          <p:nvPr/>
        </p:nvSpPr>
        <p:spPr>
          <a:xfrm>
            <a:off x="812774" y="4705483"/>
            <a:ext cx="4317984" cy="0"/>
          </a:xfrm>
          <a:prstGeom prst="line">
            <a:avLst/>
          </a:prstGeom>
          <a:noFill/>
          <a:ln w="6350">
            <a:solidFill>
              <a:srgbClr val="2A303B"/>
            </a:solidFill>
            <a:prstDash val="solid"/>
          </a:ln>
        </p:spPr>
      </p:sp>
      <p:sp>
        <p:nvSpPr>
          <p:cNvPr id="8" name="Text 6"/>
          <p:cNvSpPr/>
          <p:nvPr/>
        </p:nvSpPr>
        <p:spPr>
          <a:xfrm>
            <a:off x="812774" y="4884686"/>
            <a:ext cx="4447524" cy="1351989"/>
          </a:xfrm>
          <a:prstGeom prst="rect">
            <a:avLst/>
          </a:prstGeom>
          <a:noFill/>
          <a:ln/>
        </p:spPr>
        <p:txBody>
          <a:bodyPr wrap="square" lIns="0" tIns="0" rIns="0" bIns="0" rtlCol="0" anchor="t">
            <a:normAutofit/>
          </a:bodyPr>
          <a:lstStyle/>
          <a:p>
            <a:pPr marL="342900" indent="-342900" algn="l">
              <a:lnSpc>
                <a:spcPts val="2100"/>
              </a:lnSpc>
              <a:buAutoNum type="arabicPeriod"/>
            </a:pPr>
            <a:r>
              <a:rPr lang="en-US" sz="1500" dirty="0">
                <a:solidFill>
                  <a:schemeClr val="bg1"/>
                </a:solidFill>
              </a:rPr>
              <a:t>RATUL PAL (24BAI0353)</a:t>
            </a:r>
          </a:p>
          <a:p>
            <a:pPr marL="342900" indent="-342900" algn="l">
              <a:lnSpc>
                <a:spcPts val="2100"/>
              </a:lnSpc>
              <a:buAutoNum type="arabicPeriod"/>
            </a:pPr>
            <a:r>
              <a:rPr lang="en-US" sz="1500" dirty="0">
                <a:solidFill>
                  <a:schemeClr val="bg1"/>
                </a:solidFill>
              </a:rPr>
              <a:t>RUDRA PRATAP (24BCE0415)</a:t>
            </a:r>
          </a:p>
          <a:p>
            <a:pPr marL="342900" indent="-342900" algn="l">
              <a:lnSpc>
                <a:spcPts val="2100"/>
              </a:lnSpc>
              <a:buAutoNum type="arabicPeriod"/>
            </a:pPr>
            <a:r>
              <a:rPr lang="en-US" sz="1500" dirty="0">
                <a:solidFill>
                  <a:schemeClr val="bg1"/>
                </a:solidFill>
              </a:rPr>
              <a:t>CHRIS K EDISON (24BAI0283)</a:t>
            </a:r>
          </a:p>
        </p:txBody>
      </p:sp>
      <p:sp>
        <p:nvSpPr>
          <p:cNvPr id="9" name="Text 7"/>
          <p:cNvSpPr/>
          <p:nvPr/>
        </p:nvSpPr>
        <p:spPr>
          <a:xfrm>
            <a:off x="812774" y="5189378"/>
            <a:ext cx="4447524"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pic>
        <p:nvPicPr>
          <p:cNvPr id="10" name="Image 0" descr="PiGPL web app showing the editor on the left and the token stream for the If/else sample on the right"/>
          <p:cNvPicPr>
            <a:picLocks noChangeAspect="1"/>
          </p:cNvPicPr>
          <p:nvPr/>
        </p:nvPicPr>
        <p:blipFill>
          <a:blip r:embed="rId3"/>
          <a:srcRect t="36" b="36"/>
          <a:stretch/>
        </p:blipFill>
        <p:spPr>
          <a:xfrm>
            <a:off x="5543532" y="1790656"/>
            <a:ext cx="5829245" cy="3276582"/>
          </a:xfrm>
          <a:prstGeom prst="roundRect">
            <a:avLst>
              <a:gd name="adj" fmla="val 2907"/>
            </a:avLst>
          </a:prstGeom>
          <a:effectLst>
            <a:outerShdw blurRad="406400" dist="152400" dir="5400000" algn="bl" rotWithShape="0">
              <a:srgbClr val="000000">
                <a:alpha val="50000"/>
              </a:srgbClr>
            </a:outerShdw>
          </a:effectLst>
        </p:spPr>
      </p:pic>
      <p:sp>
        <p:nvSpPr>
          <p:cNvPr id="11" name="Shape 8"/>
          <p:cNvSpPr/>
          <p:nvPr/>
        </p:nvSpPr>
        <p:spPr>
          <a:xfrm>
            <a:off x="5540357" y="1787481"/>
            <a:ext cx="5835595" cy="3282932"/>
          </a:xfrm>
          <a:prstGeom prst="roundRect">
            <a:avLst>
              <a:gd name="adj" fmla="val 2998"/>
            </a:avLst>
          </a:prstGeom>
          <a:noFill/>
          <a:ln w="6350">
            <a:solidFill>
              <a:srgbClr val="2A303B"/>
            </a:solidFill>
            <a:prstDash val="solid"/>
          </a:ln>
        </p:spPr>
      </p:sp>
      <p:sp>
        <p:nvSpPr>
          <p:cNvPr id="12" name="TextBox 11">
            <a:extLst>
              <a:ext uri="{FF2B5EF4-FFF2-40B4-BE49-F238E27FC236}">
                <a16:creationId xmlns:a16="http://schemas.microsoft.com/office/drawing/2014/main" id="{A7F6E6E4-D536-5EED-9A56-87B0CBE82740}"/>
              </a:ext>
            </a:extLst>
          </p:cNvPr>
          <p:cNvSpPr txBox="1"/>
          <p:nvPr/>
        </p:nvSpPr>
        <p:spPr>
          <a:xfrm>
            <a:off x="3493477" y="5298831"/>
            <a:ext cx="184731" cy="369332"/>
          </a:xfrm>
          <a:prstGeom prst="rect">
            <a:avLst/>
          </a:prstGeom>
          <a:noFill/>
        </p:spPr>
        <p:txBody>
          <a:bodyPr wrap="none" rtlCol="0">
            <a:spAutoFit/>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A"/>
        </a:solidFill>
        <a:effectLst/>
      </p:bgPr>
    </p:bg>
    <p:spTree>
      <p:nvGrpSpPr>
        <p:cNvPr id="1" name=""/>
        <p:cNvGrpSpPr/>
        <p:nvPr/>
      </p:nvGrpSpPr>
      <p:grpSpPr>
        <a:xfrm>
          <a:off x="0" y="0"/>
          <a:ext cx="0" cy="0"/>
          <a:chOff x="0" y="0"/>
          <a:chExt cx="0" cy="0"/>
        </a:xfrm>
      </p:grpSpPr>
      <p:sp>
        <p:nvSpPr>
          <p:cNvPr id="2" name="Text 0"/>
          <p:cNvSpPr/>
          <p:nvPr/>
        </p:nvSpPr>
        <p:spPr>
          <a:xfrm>
            <a:off x="812774" y="660392"/>
            <a:ext cx="10883418"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9A520A"/>
                </a:solidFill>
                <a:latin typeface="JetBrains Mono" pitchFamily="49" charset="0"/>
                <a:ea typeface="JetBrains Mono" pitchFamily="49" charset="-122"/>
                <a:cs typeface="JetBrains Mono" pitchFamily="49" charset="-120"/>
              </a:rPr>
              <a:t>THE IDEA</a:t>
            </a:r>
            <a:endParaRPr lang="en-US" sz="1200" dirty="0"/>
          </a:p>
        </p:txBody>
      </p:sp>
      <p:sp>
        <p:nvSpPr>
          <p:cNvPr id="3" name="Text 1"/>
          <p:cNvSpPr>
            <a:spLocks noGrp="1"/>
          </p:cNvSpPr>
          <p:nvPr>
            <p:ph type="title"/>
          </p:nvPr>
        </p:nvSpPr>
        <p:spPr>
          <a:xfrm>
            <a:off x="812774" y="975300"/>
            <a:ext cx="10883418"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61A21"/>
                </a:solidFill>
                <a:latin typeface="IBM Plex Sans" pitchFamily="34" charset="0"/>
                <a:ea typeface="IBM Plex Sans" pitchFamily="34" charset="-122"/>
                <a:cs typeface="IBM Plex Sans" pitchFamily="34" charset="-120"/>
              </a:rPr>
              <a:t>One program, nine visible phases</a:t>
            </a:r>
            <a:endParaRPr lang="en-US" sz="3200" dirty="0"/>
          </a:p>
        </p:txBody>
      </p:sp>
      <p:sp>
        <p:nvSpPr>
          <p:cNvPr id="4" name="Text 2"/>
          <p:cNvSpPr/>
          <p:nvPr/>
        </p:nvSpPr>
        <p:spPr>
          <a:xfrm>
            <a:off x="812774" y="1544249"/>
            <a:ext cx="9549056" cy="55869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E5562"/>
                </a:solidFill>
                <a:latin typeface="IBM Plex Sans" pitchFamily="34" charset="0"/>
                <a:ea typeface="IBM Plex Sans" pitchFamily="34" charset="-122"/>
                <a:cs typeface="IBM Plex Sans" pitchFamily="34" charset="-120"/>
              </a:rPr>
              <a:t>Compiler phases are usually learned on paper. PiGPL compiles a real program, records every small action as an event, and lets you watch, pause and replay each phase.</a:t>
            </a:r>
            <a:endParaRPr lang="en-US" sz="1500" dirty="0"/>
          </a:p>
        </p:txBody>
      </p:sp>
      <p:sp>
        <p:nvSpPr>
          <p:cNvPr id="5" name="Text 3"/>
          <p:cNvSpPr/>
          <p:nvPr/>
        </p:nvSpPr>
        <p:spPr>
          <a:xfrm>
            <a:off x="812774" y="2306084"/>
            <a:ext cx="1102031" cy="365629"/>
          </a:xfrm>
          <a:custGeom>
            <a:avLst/>
            <a:gdLst/>
            <a:ahLst/>
            <a:cxnLst/>
            <a:rect l="l" t="t" r="r" b="b"/>
            <a:pathLst>
              <a:path w="1102031" h="365629">
                <a:moveTo>
                  <a:pt x="63500" y="0"/>
                </a:moveTo>
                <a:lnTo>
                  <a:pt x="1038531" y="0"/>
                </a:lnTo>
                <a:arcTo wR="63500" hR="63500" stAng="16200000" swAng="5400000"/>
                <a:lnTo>
                  <a:pt x="1102031" y="302129"/>
                </a:lnTo>
                <a:arcTo wR="63500" hR="63500" stAng="0" swAng="5400000"/>
                <a:lnTo>
                  <a:pt x="63500" y="365629"/>
                </a:lnTo>
                <a:arcTo wR="63500" hR="63500" stAng="5400000" swAng="5400000"/>
                <a:lnTo>
                  <a:pt x="0" y="63500"/>
                </a:lnTo>
                <a:arcTo wR="63500" hR="63500" stAng="10800000" swAng="5400000"/>
                <a:close/>
              </a:path>
            </a:pathLst>
          </a:custGeom>
          <a:solidFill>
            <a:srgbClr val="DCE8F5"/>
          </a:solidFill>
          <a:ln/>
        </p:spPr>
        <p:txBody>
          <a:bodyPr wrap="square" lIns="25400" tIns="76200" rIns="25400" bIns="50800" rtlCol="0" anchor="t">
            <a:normAutofit/>
          </a:bodyPr>
          <a:lstStyle/>
          <a:p>
            <a:pPr marL="0" indent="0" algn="ctr">
              <a:lnSpc>
                <a:spcPts val="1680"/>
              </a:lnSpc>
              <a:buNone/>
            </a:pPr>
            <a:r>
              <a:rPr lang="en-US" sz="1200" b="1" dirty="0">
                <a:solidFill>
                  <a:srgbClr val="1D3557"/>
                </a:solidFill>
                <a:latin typeface="IBM Plex Sans" pitchFamily="34" charset="0"/>
                <a:ea typeface="IBM Plex Sans" pitchFamily="34" charset="-122"/>
                <a:cs typeface="IBM Plex Sans" pitchFamily="34" charset="-120"/>
              </a:rPr>
              <a:t>Source</a:t>
            </a:r>
            <a:endParaRPr lang="en-US" sz="1200" dirty="0"/>
          </a:p>
        </p:txBody>
      </p:sp>
      <p:sp>
        <p:nvSpPr>
          <p:cNvPr id="6" name="Text 4"/>
          <p:cNvSpPr/>
          <p:nvPr/>
        </p:nvSpPr>
        <p:spPr>
          <a:xfrm>
            <a:off x="1965599" y="2306084"/>
            <a:ext cx="1102103" cy="365629"/>
          </a:xfrm>
          <a:custGeom>
            <a:avLst/>
            <a:gdLst/>
            <a:ahLst/>
            <a:cxnLst/>
            <a:rect l="l" t="t" r="r" b="b"/>
            <a:pathLst>
              <a:path w="1102103" h="365629">
                <a:moveTo>
                  <a:pt x="63500" y="0"/>
                </a:moveTo>
                <a:lnTo>
                  <a:pt x="1038603" y="0"/>
                </a:lnTo>
                <a:arcTo wR="63500" hR="63500" stAng="16200000" swAng="5400000"/>
                <a:lnTo>
                  <a:pt x="1102103" y="302129"/>
                </a:lnTo>
                <a:arcTo wR="63500" hR="63500" stAng="0" swAng="5400000"/>
                <a:lnTo>
                  <a:pt x="63500" y="365629"/>
                </a:lnTo>
                <a:arcTo wR="63500" hR="63500" stAng="5400000" swAng="5400000"/>
                <a:lnTo>
                  <a:pt x="0" y="63500"/>
                </a:lnTo>
                <a:arcTo wR="63500" hR="63500" stAng="10800000" swAng="5400000"/>
                <a:close/>
              </a:path>
            </a:pathLst>
          </a:custGeom>
          <a:solidFill>
            <a:srgbClr val="DCE8F5"/>
          </a:solidFill>
          <a:ln/>
        </p:spPr>
        <p:txBody>
          <a:bodyPr wrap="square" lIns="25400" tIns="76200" rIns="25400" bIns="50800" rtlCol="0" anchor="t">
            <a:normAutofit/>
          </a:bodyPr>
          <a:lstStyle/>
          <a:p>
            <a:pPr marL="0" indent="0" algn="ctr">
              <a:lnSpc>
                <a:spcPts val="1680"/>
              </a:lnSpc>
              <a:buNone/>
            </a:pPr>
            <a:r>
              <a:rPr lang="en-US" sz="1200" b="1" dirty="0">
                <a:solidFill>
                  <a:srgbClr val="1D3557"/>
                </a:solidFill>
                <a:latin typeface="IBM Plex Sans" pitchFamily="34" charset="0"/>
                <a:ea typeface="IBM Plex Sans" pitchFamily="34" charset="-122"/>
                <a:cs typeface="IBM Plex Sans" pitchFamily="34" charset="-120"/>
              </a:rPr>
              <a:t>Lexer</a:t>
            </a:r>
            <a:endParaRPr lang="en-US" sz="1200" dirty="0"/>
          </a:p>
        </p:txBody>
      </p:sp>
      <p:sp>
        <p:nvSpPr>
          <p:cNvPr id="7" name="Text 5"/>
          <p:cNvSpPr/>
          <p:nvPr/>
        </p:nvSpPr>
        <p:spPr>
          <a:xfrm>
            <a:off x="3118496" y="2306084"/>
            <a:ext cx="1102103" cy="365629"/>
          </a:xfrm>
          <a:custGeom>
            <a:avLst/>
            <a:gdLst/>
            <a:ahLst/>
            <a:cxnLst/>
            <a:rect l="l" t="t" r="r" b="b"/>
            <a:pathLst>
              <a:path w="1102103" h="365629">
                <a:moveTo>
                  <a:pt x="63500" y="0"/>
                </a:moveTo>
                <a:lnTo>
                  <a:pt x="1038603" y="0"/>
                </a:lnTo>
                <a:arcTo wR="63500" hR="63500" stAng="16200000" swAng="5400000"/>
                <a:lnTo>
                  <a:pt x="1102103" y="302129"/>
                </a:lnTo>
                <a:arcTo wR="63500" hR="63500" stAng="0" swAng="5400000"/>
                <a:lnTo>
                  <a:pt x="63500" y="365629"/>
                </a:lnTo>
                <a:arcTo wR="63500" hR="63500" stAng="5400000" swAng="5400000"/>
                <a:lnTo>
                  <a:pt x="0" y="63500"/>
                </a:lnTo>
                <a:arcTo wR="63500" hR="63500" stAng="10800000" swAng="5400000"/>
                <a:close/>
              </a:path>
            </a:pathLst>
          </a:custGeom>
          <a:solidFill>
            <a:srgbClr val="DCE8F5"/>
          </a:solidFill>
          <a:ln/>
        </p:spPr>
        <p:txBody>
          <a:bodyPr wrap="square" lIns="25400" tIns="76200" rIns="25400" bIns="50800" rtlCol="0" anchor="t">
            <a:normAutofit/>
          </a:bodyPr>
          <a:lstStyle/>
          <a:p>
            <a:pPr marL="0" indent="0" algn="ctr">
              <a:lnSpc>
                <a:spcPts val="1680"/>
              </a:lnSpc>
              <a:buNone/>
            </a:pPr>
            <a:r>
              <a:rPr lang="en-US" sz="1200" b="1" dirty="0">
                <a:solidFill>
                  <a:srgbClr val="1D3557"/>
                </a:solidFill>
                <a:latin typeface="IBM Plex Sans" pitchFamily="34" charset="0"/>
                <a:ea typeface="IBM Plex Sans" pitchFamily="34" charset="-122"/>
                <a:cs typeface="IBM Plex Sans" pitchFamily="34" charset="-120"/>
              </a:rPr>
              <a:t>Parser</a:t>
            </a:r>
            <a:endParaRPr lang="en-US" sz="1200" dirty="0"/>
          </a:p>
        </p:txBody>
      </p:sp>
      <p:sp>
        <p:nvSpPr>
          <p:cNvPr id="8" name="Text 6"/>
          <p:cNvSpPr/>
          <p:nvPr/>
        </p:nvSpPr>
        <p:spPr>
          <a:xfrm>
            <a:off x="4271393" y="2306084"/>
            <a:ext cx="1102103" cy="365629"/>
          </a:xfrm>
          <a:custGeom>
            <a:avLst/>
            <a:gdLst/>
            <a:ahLst/>
            <a:cxnLst/>
            <a:rect l="l" t="t" r="r" b="b"/>
            <a:pathLst>
              <a:path w="1102103" h="365629">
                <a:moveTo>
                  <a:pt x="63500" y="0"/>
                </a:moveTo>
                <a:lnTo>
                  <a:pt x="1038603" y="0"/>
                </a:lnTo>
                <a:arcTo wR="63500" hR="63500" stAng="16200000" swAng="5400000"/>
                <a:lnTo>
                  <a:pt x="1102103" y="302129"/>
                </a:lnTo>
                <a:arcTo wR="63500" hR="63500" stAng="0" swAng="5400000"/>
                <a:lnTo>
                  <a:pt x="63500" y="365629"/>
                </a:lnTo>
                <a:arcTo wR="63500" hR="63500" stAng="5400000" swAng="5400000"/>
                <a:lnTo>
                  <a:pt x="0" y="63500"/>
                </a:lnTo>
                <a:arcTo wR="63500" hR="63500" stAng="10800000" swAng="5400000"/>
                <a:close/>
              </a:path>
            </a:pathLst>
          </a:custGeom>
          <a:solidFill>
            <a:srgbClr val="DCE8F5"/>
          </a:solidFill>
          <a:ln/>
        </p:spPr>
        <p:txBody>
          <a:bodyPr wrap="square" lIns="25400" tIns="76200" rIns="25400" bIns="50800" rtlCol="0" anchor="t">
            <a:normAutofit/>
          </a:bodyPr>
          <a:lstStyle/>
          <a:p>
            <a:pPr marL="0" indent="0" algn="ctr">
              <a:lnSpc>
                <a:spcPts val="1680"/>
              </a:lnSpc>
              <a:buNone/>
            </a:pPr>
            <a:r>
              <a:rPr lang="en-US" sz="1200" b="1" dirty="0">
                <a:solidFill>
                  <a:srgbClr val="1D3557"/>
                </a:solidFill>
                <a:latin typeface="IBM Plex Sans" pitchFamily="34" charset="0"/>
                <a:ea typeface="IBM Plex Sans" pitchFamily="34" charset="-122"/>
                <a:cs typeface="IBM Plex Sans" pitchFamily="34" charset="-120"/>
              </a:rPr>
              <a:t>AST</a:t>
            </a:r>
            <a:endParaRPr lang="en-US" sz="1200" dirty="0"/>
          </a:p>
        </p:txBody>
      </p:sp>
      <p:sp>
        <p:nvSpPr>
          <p:cNvPr id="9" name="Shape 7"/>
          <p:cNvSpPr/>
          <p:nvPr/>
        </p:nvSpPr>
        <p:spPr>
          <a:xfrm>
            <a:off x="812774" y="2754218"/>
            <a:ext cx="4560722" cy="0"/>
          </a:xfrm>
          <a:prstGeom prst="line">
            <a:avLst/>
          </a:prstGeom>
          <a:noFill/>
          <a:ln w="12700">
            <a:solidFill>
              <a:srgbClr val="1D3557"/>
            </a:solidFill>
            <a:prstDash val="solid"/>
          </a:ln>
        </p:spPr>
      </p:sp>
      <p:sp>
        <p:nvSpPr>
          <p:cNvPr id="10" name="Text 8"/>
          <p:cNvSpPr/>
          <p:nvPr/>
        </p:nvSpPr>
        <p:spPr>
          <a:xfrm>
            <a:off x="812774" y="2820643"/>
            <a:ext cx="4697544" cy="2386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562"/>
                </a:solidFill>
                <a:latin typeface="IBM Plex Sans" pitchFamily="34" charset="0"/>
                <a:ea typeface="IBM Plex Sans" pitchFamily="34" charset="-122"/>
                <a:cs typeface="IBM Plex Sans" pitchFamily="34" charset="-120"/>
              </a:rPr>
              <a:t>Front end · text → tokens → tree</a:t>
            </a:r>
            <a:endParaRPr lang="en-US" sz="1200" dirty="0"/>
          </a:p>
        </p:txBody>
      </p:sp>
      <p:sp>
        <p:nvSpPr>
          <p:cNvPr id="11" name="Text 9"/>
          <p:cNvSpPr/>
          <p:nvPr/>
        </p:nvSpPr>
        <p:spPr>
          <a:xfrm>
            <a:off x="5525878" y="2306084"/>
            <a:ext cx="1114784" cy="365629"/>
          </a:xfrm>
          <a:custGeom>
            <a:avLst/>
            <a:gdLst/>
            <a:ahLst/>
            <a:cxnLst/>
            <a:rect l="l" t="t" r="r" b="b"/>
            <a:pathLst>
              <a:path w="1114784" h="365629">
                <a:moveTo>
                  <a:pt x="63500" y="0"/>
                </a:moveTo>
                <a:lnTo>
                  <a:pt x="1051284" y="0"/>
                </a:lnTo>
                <a:arcTo wR="63500" hR="63500" stAng="16200000" swAng="5400000"/>
                <a:lnTo>
                  <a:pt x="1114784" y="302129"/>
                </a:lnTo>
                <a:arcTo wR="63500" hR="63500" stAng="0" swAng="5400000"/>
                <a:lnTo>
                  <a:pt x="63500" y="365629"/>
                </a:lnTo>
                <a:arcTo wR="63500" hR="63500" stAng="5400000" swAng="5400000"/>
                <a:lnTo>
                  <a:pt x="0" y="63500"/>
                </a:lnTo>
                <a:arcTo wR="63500" hR="63500" stAng="10800000" swAng="5400000"/>
                <a:close/>
              </a:path>
            </a:pathLst>
          </a:custGeom>
          <a:solidFill>
            <a:srgbClr val="F6E3C4"/>
          </a:solidFill>
          <a:ln/>
        </p:spPr>
        <p:txBody>
          <a:bodyPr wrap="square" lIns="25400" tIns="76200" rIns="25400" bIns="50800" rtlCol="0" anchor="t">
            <a:normAutofit/>
          </a:bodyPr>
          <a:lstStyle/>
          <a:p>
            <a:pPr marL="0" indent="0" algn="ctr">
              <a:lnSpc>
                <a:spcPts val="1680"/>
              </a:lnSpc>
              <a:buNone/>
            </a:pPr>
            <a:r>
              <a:rPr lang="en-US" sz="1200" b="1" dirty="0">
                <a:solidFill>
                  <a:srgbClr val="5C3606"/>
                </a:solidFill>
                <a:latin typeface="IBM Plex Sans" pitchFamily="34" charset="0"/>
                <a:ea typeface="IBM Plex Sans" pitchFamily="34" charset="-122"/>
                <a:cs typeface="IBM Plex Sans" pitchFamily="34" charset="-120"/>
              </a:rPr>
              <a:t>Symbols</a:t>
            </a:r>
            <a:endParaRPr lang="en-US" sz="1200" dirty="0"/>
          </a:p>
        </p:txBody>
      </p:sp>
      <p:sp>
        <p:nvSpPr>
          <p:cNvPr id="12" name="Text 10"/>
          <p:cNvSpPr/>
          <p:nvPr/>
        </p:nvSpPr>
        <p:spPr>
          <a:xfrm>
            <a:off x="6691456" y="2306084"/>
            <a:ext cx="1114784" cy="365629"/>
          </a:xfrm>
          <a:custGeom>
            <a:avLst/>
            <a:gdLst/>
            <a:ahLst/>
            <a:cxnLst/>
            <a:rect l="l" t="t" r="r" b="b"/>
            <a:pathLst>
              <a:path w="1114784" h="365629">
                <a:moveTo>
                  <a:pt x="63500" y="0"/>
                </a:moveTo>
                <a:lnTo>
                  <a:pt x="1051284" y="0"/>
                </a:lnTo>
                <a:arcTo wR="63500" hR="63500" stAng="16200000" swAng="5400000"/>
                <a:lnTo>
                  <a:pt x="1114784" y="302129"/>
                </a:lnTo>
                <a:arcTo wR="63500" hR="63500" stAng="0" swAng="5400000"/>
                <a:lnTo>
                  <a:pt x="63500" y="365629"/>
                </a:lnTo>
                <a:arcTo wR="63500" hR="63500" stAng="5400000" swAng="5400000"/>
                <a:lnTo>
                  <a:pt x="0" y="63500"/>
                </a:lnTo>
                <a:arcTo wR="63500" hR="63500" stAng="10800000" swAng="5400000"/>
                <a:close/>
              </a:path>
            </a:pathLst>
          </a:custGeom>
          <a:solidFill>
            <a:srgbClr val="F6E3C4"/>
          </a:solidFill>
          <a:ln/>
        </p:spPr>
        <p:txBody>
          <a:bodyPr wrap="square" lIns="25400" tIns="76200" rIns="25400" bIns="50800" rtlCol="0" anchor="t">
            <a:normAutofit/>
          </a:bodyPr>
          <a:lstStyle/>
          <a:p>
            <a:pPr marL="0" indent="0" algn="ctr">
              <a:lnSpc>
                <a:spcPts val="1680"/>
              </a:lnSpc>
              <a:buNone/>
            </a:pPr>
            <a:r>
              <a:rPr lang="en-US" sz="1200" b="1" dirty="0">
                <a:solidFill>
                  <a:srgbClr val="5C3606"/>
                </a:solidFill>
                <a:latin typeface="IBM Plex Sans" pitchFamily="34" charset="0"/>
                <a:ea typeface="IBM Plex Sans" pitchFamily="34" charset="-122"/>
                <a:cs typeface="IBM Plex Sans" pitchFamily="34" charset="-120"/>
              </a:rPr>
              <a:t>Semantic</a:t>
            </a:r>
            <a:endParaRPr lang="en-US" sz="1200" dirty="0"/>
          </a:p>
        </p:txBody>
      </p:sp>
      <p:sp>
        <p:nvSpPr>
          <p:cNvPr id="13" name="Shape 11"/>
          <p:cNvSpPr/>
          <p:nvPr/>
        </p:nvSpPr>
        <p:spPr>
          <a:xfrm>
            <a:off x="5525878" y="2754218"/>
            <a:ext cx="2280361" cy="0"/>
          </a:xfrm>
          <a:prstGeom prst="line">
            <a:avLst/>
          </a:prstGeom>
          <a:noFill/>
          <a:ln w="12700">
            <a:solidFill>
              <a:srgbClr val="9A520A"/>
            </a:solidFill>
            <a:prstDash val="solid"/>
          </a:ln>
        </p:spPr>
      </p:sp>
      <p:sp>
        <p:nvSpPr>
          <p:cNvPr id="14" name="Text 12"/>
          <p:cNvSpPr/>
          <p:nvPr/>
        </p:nvSpPr>
        <p:spPr>
          <a:xfrm>
            <a:off x="5525878" y="2820643"/>
            <a:ext cx="2348772" cy="2386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562"/>
                </a:solidFill>
                <a:latin typeface="IBM Plex Sans" pitchFamily="34" charset="0"/>
                <a:ea typeface="IBM Plex Sans" pitchFamily="34" charset="-122"/>
                <a:cs typeface="IBM Plex Sans" pitchFamily="34" charset="-120"/>
              </a:rPr>
              <a:t>Middle · names and types</a:t>
            </a:r>
            <a:endParaRPr lang="en-US" sz="1200" dirty="0"/>
          </a:p>
        </p:txBody>
      </p:sp>
      <p:sp>
        <p:nvSpPr>
          <p:cNvPr id="15" name="Text 13"/>
          <p:cNvSpPr/>
          <p:nvPr/>
        </p:nvSpPr>
        <p:spPr>
          <a:xfrm>
            <a:off x="7958621" y="2306084"/>
            <a:ext cx="1106306" cy="365629"/>
          </a:xfrm>
          <a:custGeom>
            <a:avLst/>
            <a:gdLst/>
            <a:ahLst/>
            <a:cxnLst/>
            <a:rect l="l" t="t" r="r" b="b"/>
            <a:pathLst>
              <a:path w="1106306" h="365629">
                <a:moveTo>
                  <a:pt x="63500" y="0"/>
                </a:moveTo>
                <a:lnTo>
                  <a:pt x="1042806" y="0"/>
                </a:lnTo>
                <a:arcTo wR="63500" hR="63500" stAng="16200000" swAng="5400000"/>
                <a:lnTo>
                  <a:pt x="1106306" y="302129"/>
                </a:lnTo>
                <a:arcTo wR="63500" hR="63500" stAng="0" swAng="5400000"/>
                <a:lnTo>
                  <a:pt x="63500" y="365629"/>
                </a:lnTo>
                <a:arcTo wR="63500" hR="63500" stAng="5400000" swAng="5400000"/>
                <a:lnTo>
                  <a:pt x="0" y="63500"/>
                </a:lnTo>
                <a:arcTo wR="63500" hR="63500" stAng="10800000" swAng="5400000"/>
                <a:close/>
              </a:path>
            </a:pathLst>
          </a:custGeom>
          <a:solidFill>
            <a:srgbClr val="E1E5DC"/>
          </a:solidFill>
          <a:ln/>
        </p:spPr>
        <p:txBody>
          <a:bodyPr wrap="square" lIns="25400" tIns="76200" rIns="25400" bIns="50800" rtlCol="0" anchor="t">
            <a:normAutofit/>
          </a:bodyPr>
          <a:lstStyle/>
          <a:p>
            <a:pPr marL="0" indent="0" algn="ctr">
              <a:lnSpc>
                <a:spcPts val="1680"/>
              </a:lnSpc>
              <a:buNone/>
            </a:pPr>
            <a:r>
              <a:rPr lang="en-US" sz="1200" b="1" dirty="0">
                <a:solidFill>
                  <a:srgbClr val="27361F"/>
                </a:solidFill>
                <a:latin typeface="IBM Plex Sans" pitchFamily="34" charset="0"/>
                <a:ea typeface="IBM Plex Sans" pitchFamily="34" charset="-122"/>
                <a:cs typeface="IBM Plex Sans" pitchFamily="34" charset="-120"/>
              </a:rPr>
              <a:t>TAC</a:t>
            </a:r>
            <a:endParaRPr lang="en-US" sz="1200" dirty="0"/>
          </a:p>
        </p:txBody>
      </p:sp>
      <p:sp>
        <p:nvSpPr>
          <p:cNvPr id="16" name="Text 14"/>
          <p:cNvSpPr/>
          <p:nvPr/>
        </p:nvSpPr>
        <p:spPr>
          <a:xfrm>
            <a:off x="9115720" y="2306084"/>
            <a:ext cx="1106378" cy="365629"/>
          </a:xfrm>
          <a:custGeom>
            <a:avLst/>
            <a:gdLst/>
            <a:ahLst/>
            <a:cxnLst/>
            <a:rect l="l" t="t" r="r" b="b"/>
            <a:pathLst>
              <a:path w="1106378" h="365629">
                <a:moveTo>
                  <a:pt x="63500" y="0"/>
                </a:moveTo>
                <a:lnTo>
                  <a:pt x="1042878" y="0"/>
                </a:lnTo>
                <a:arcTo wR="63500" hR="63500" stAng="16200000" swAng="5400000"/>
                <a:lnTo>
                  <a:pt x="1106378" y="302129"/>
                </a:lnTo>
                <a:arcTo wR="63500" hR="63500" stAng="0" swAng="5400000"/>
                <a:lnTo>
                  <a:pt x="63500" y="365629"/>
                </a:lnTo>
                <a:arcTo wR="63500" hR="63500" stAng="5400000" swAng="5400000"/>
                <a:lnTo>
                  <a:pt x="0" y="63500"/>
                </a:lnTo>
                <a:arcTo wR="63500" hR="63500" stAng="10800000" swAng="5400000"/>
                <a:close/>
              </a:path>
            </a:pathLst>
          </a:custGeom>
          <a:solidFill>
            <a:srgbClr val="E1E5DC"/>
          </a:solidFill>
          <a:ln/>
        </p:spPr>
        <p:txBody>
          <a:bodyPr wrap="square" lIns="25400" tIns="76200" rIns="25400" bIns="50800" rtlCol="0" anchor="t">
            <a:normAutofit/>
          </a:bodyPr>
          <a:lstStyle/>
          <a:p>
            <a:pPr marL="0" indent="0" algn="ctr">
              <a:lnSpc>
                <a:spcPts val="1680"/>
              </a:lnSpc>
              <a:buNone/>
            </a:pPr>
            <a:r>
              <a:rPr lang="en-US" sz="1200" b="1" dirty="0">
                <a:solidFill>
                  <a:srgbClr val="27361F"/>
                </a:solidFill>
                <a:latin typeface="IBM Plex Sans" pitchFamily="34" charset="0"/>
                <a:ea typeface="IBM Plex Sans" pitchFamily="34" charset="-122"/>
                <a:cs typeface="IBM Plex Sans" pitchFamily="34" charset="-120"/>
              </a:rPr>
              <a:t>Optimize</a:t>
            </a:r>
            <a:endParaRPr lang="en-US" sz="1200" dirty="0"/>
          </a:p>
        </p:txBody>
      </p:sp>
      <p:sp>
        <p:nvSpPr>
          <p:cNvPr id="17" name="Text 15"/>
          <p:cNvSpPr/>
          <p:nvPr/>
        </p:nvSpPr>
        <p:spPr>
          <a:xfrm>
            <a:off x="10272893" y="2306084"/>
            <a:ext cx="1106306" cy="365629"/>
          </a:xfrm>
          <a:custGeom>
            <a:avLst/>
            <a:gdLst/>
            <a:ahLst/>
            <a:cxnLst/>
            <a:rect l="l" t="t" r="r" b="b"/>
            <a:pathLst>
              <a:path w="1106306" h="365629">
                <a:moveTo>
                  <a:pt x="63500" y="0"/>
                </a:moveTo>
                <a:lnTo>
                  <a:pt x="1042806" y="0"/>
                </a:lnTo>
                <a:arcTo wR="63500" hR="63500" stAng="16200000" swAng="5400000"/>
                <a:lnTo>
                  <a:pt x="1106306" y="302129"/>
                </a:lnTo>
                <a:arcTo wR="63500" hR="63500" stAng="0" swAng="5400000"/>
                <a:lnTo>
                  <a:pt x="63500" y="365629"/>
                </a:lnTo>
                <a:arcTo wR="63500" hR="63500" stAng="5400000" swAng="5400000"/>
                <a:lnTo>
                  <a:pt x="0" y="63500"/>
                </a:lnTo>
                <a:arcTo wR="63500" hR="63500" stAng="10800000" swAng="5400000"/>
                <a:close/>
              </a:path>
            </a:pathLst>
          </a:custGeom>
          <a:solidFill>
            <a:srgbClr val="E1E5DC"/>
          </a:solidFill>
          <a:ln/>
        </p:spPr>
        <p:txBody>
          <a:bodyPr wrap="square" lIns="25400" tIns="76200" rIns="25400" bIns="50800" rtlCol="0" anchor="t">
            <a:normAutofit/>
          </a:bodyPr>
          <a:lstStyle/>
          <a:p>
            <a:pPr marL="0" indent="0" algn="ctr">
              <a:lnSpc>
                <a:spcPts val="1680"/>
              </a:lnSpc>
              <a:buNone/>
            </a:pPr>
            <a:r>
              <a:rPr lang="en-US" sz="1200" b="1" dirty="0">
                <a:solidFill>
                  <a:srgbClr val="27361F"/>
                </a:solidFill>
                <a:latin typeface="IBM Plex Sans" pitchFamily="34" charset="0"/>
                <a:ea typeface="IBM Plex Sans" pitchFamily="34" charset="-122"/>
                <a:cs typeface="IBM Plex Sans" pitchFamily="34" charset="-120"/>
              </a:rPr>
              <a:t>Execute</a:t>
            </a:r>
            <a:endParaRPr lang="en-US" sz="1200" dirty="0"/>
          </a:p>
        </p:txBody>
      </p:sp>
      <p:sp>
        <p:nvSpPr>
          <p:cNvPr id="18" name="Shape 16"/>
          <p:cNvSpPr/>
          <p:nvPr/>
        </p:nvSpPr>
        <p:spPr>
          <a:xfrm>
            <a:off x="7958621" y="2754218"/>
            <a:ext cx="3420578" cy="0"/>
          </a:xfrm>
          <a:prstGeom prst="line">
            <a:avLst/>
          </a:prstGeom>
          <a:noFill/>
          <a:ln w="12700">
            <a:solidFill>
              <a:srgbClr val="27361F"/>
            </a:solidFill>
            <a:prstDash val="solid"/>
          </a:ln>
        </p:spPr>
      </p:sp>
      <p:sp>
        <p:nvSpPr>
          <p:cNvPr id="19" name="Text 17"/>
          <p:cNvSpPr/>
          <p:nvPr/>
        </p:nvSpPr>
        <p:spPr>
          <a:xfrm>
            <a:off x="7958621" y="2820643"/>
            <a:ext cx="3523195" cy="2386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562"/>
                </a:solidFill>
                <a:latin typeface="IBM Plex Sans" pitchFamily="34" charset="0"/>
                <a:ea typeface="IBM Plex Sans" pitchFamily="34" charset="-122"/>
                <a:cs typeface="IBM Plex Sans" pitchFamily="34" charset="-120"/>
              </a:rPr>
              <a:t>Back end · code → run</a:t>
            </a:r>
            <a:endParaRPr lang="en-US" sz="1200" dirty="0"/>
          </a:p>
        </p:txBody>
      </p:sp>
      <p:sp>
        <p:nvSpPr>
          <p:cNvPr id="20" name="Shape 18"/>
          <p:cNvSpPr/>
          <p:nvPr/>
        </p:nvSpPr>
        <p:spPr>
          <a:xfrm>
            <a:off x="815949" y="3265647"/>
            <a:ext cx="3414156" cy="1653761"/>
          </a:xfrm>
          <a:prstGeom prst="roundRect">
            <a:avLst>
              <a:gd name="adj" fmla="val 5952"/>
            </a:avLst>
          </a:prstGeom>
          <a:solidFill>
            <a:srgbClr val="FBFAF6"/>
          </a:solidFill>
          <a:ln w="6350">
            <a:solidFill>
              <a:srgbClr val="DEDAD0"/>
            </a:solidFill>
            <a:prstDash val="solid"/>
          </a:ln>
        </p:spPr>
      </p:sp>
      <p:sp>
        <p:nvSpPr>
          <p:cNvPr id="21" name="Text 19"/>
          <p:cNvSpPr/>
          <p:nvPr/>
        </p:nvSpPr>
        <p:spPr>
          <a:xfrm>
            <a:off x="1020587" y="3470285"/>
            <a:ext cx="3095027" cy="2691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A21"/>
                </a:solidFill>
                <a:latin typeface="IBM Plex Sans" pitchFamily="34" charset="0"/>
                <a:ea typeface="IBM Plex Sans" pitchFamily="34" charset="-122"/>
                <a:cs typeface="IBM Plex Sans" pitchFamily="34" charset="-120"/>
              </a:rPr>
              <a:t>Event log</a:t>
            </a:r>
            <a:endParaRPr lang="en-US" sz="1600" dirty="0"/>
          </a:p>
        </p:txBody>
      </p:sp>
      <p:sp>
        <p:nvSpPr>
          <p:cNvPr id="22" name="Text 20"/>
          <p:cNvSpPr/>
          <p:nvPr/>
        </p:nvSpPr>
        <p:spPr>
          <a:xfrm>
            <a:off x="1020587" y="3790192"/>
            <a:ext cx="3095027" cy="94997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562"/>
                </a:solidFill>
                <a:latin typeface="IBM Plex Sans" pitchFamily="34" charset="0"/>
                <a:ea typeface="IBM Plex Sans" pitchFamily="34" charset="-122"/>
                <a:cs typeface="IBM Plex Sans" pitchFamily="34" charset="-120"/>
              </a:rPr>
              <a:t>Every phase writes events — token found, rule reduced, check passed, instruction emitted — each with its source line and column.</a:t>
            </a:r>
            <a:endParaRPr lang="en-US" sz="1300" dirty="0"/>
          </a:p>
        </p:txBody>
      </p:sp>
      <p:sp>
        <p:nvSpPr>
          <p:cNvPr id="23" name="Shape 21"/>
          <p:cNvSpPr/>
          <p:nvPr/>
        </p:nvSpPr>
        <p:spPr>
          <a:xfrm>
            <a:off x="4388836" y="3265647"/>
            <a:ext cx="3414228" cy="1653761"/>
          </a:xfrm>
          <a:prstGeom prst="roundRect">
            <a:avLst>
              <a:gd name="adj" fmla="val 5952"/>
            </a:avLst>
          </a:prstGeom>
          <a:solidFill>
            <a:srgbClr val="FBFAF6"/>
          </a:solidFill>
          <a:ln w="6350">
            <a:solidFill>
              <a:srgbClr val="DEDAD0"/>
            </a:solidFill>
            <a:prstDash val="solid"/>
          </a:ln>
        </p:spPr>
      </p:sp>
      <p:sp>
        <p:nvSpPr>
          <p:cNvPr id="24" name="Text 22"/>
          <p:cNvSpPr/>
          <p:nvPr/>
        </p:nvSpPr>
        <p:spPr>
          <a:xfrm>
            <a:off x="4593474" y="3470285"/>
            <a:ext cx="3095101" cy="2691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A21"/>
                </a:solidFill>
                <a:latin typeface="IBM Plex Sans" pitchFamily="34" charset="0"/>
                <a:ea typeface="IBM Plex Sans" pitchFamily="34" charset="-122"/>
                <a:cs typeface="IBM Plex Sans" pitchFamily="34" charset="-120"/>
              </a:rPr>
              <a:t>Replay</a:t>
            </a:r>
            <a:endParaRPr lang="en-US" sz="1600" dirty="0"/>
          </a:p>
        </p:txBody>
      </p:sp>
      <p:sp>
        <p:nvSpPr>
          <p:cNvPr id="25" name="Text 23"/>
          <p:cNvSpPr/>
          <p:nvPr/>
        </p:nvSpPr>
        <p:spPr>
          <a:xfrm>
            <a:off x="4593474" y="3790192"/>
            <a:ext cx="3095101" cy="94997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562"/>
                </a:solidFill>
                <a:latin typeface="IBM Plex Sans" pitchFamily="34" charset="0"/>
                <a:ea typeface="IBM Plex Sans" pitchFamily="34" charset="-122"/>
                <a:cs typeface="IBM Plex Sans" pitchFamily="34" charset="-120"/>
              </a:rPr>
              <a:t>Play, step or drag through the events. The 10-line If/else sample produces 159 events, and the stage tabs follow along.</a:t>
            </a:r>
            <a:endParaRPr lang="en-US" sz="1300" dirty="0"/>
          </a:p>
        </p:txBody>
      </p:sp>
      <p:sp>
        <p:nvSpPr>
          <p:cNvPr id="26" name="Shape 24"/>
          <p:cNvSpPr/>
          <p:nvPr/>
        </p:nvSpPr>
        <p:spPr>
          <a:xfrm>
            <a:off x="7961796" y="3265647"/>
            <a:ext cx="3414228" cy="1653761"/>
          </a:xfrm>
          <a:prstGeom prst="roundRect">
            <a:avLst>
              <a:gd name="adj" fmla="val 5952"/>
            </a:avLst>
          </a:prstGeom>
          <a:solidFill>
            <a:srgbClr val="FBFAF6"/>
          </a:solidFill>
          <a:ln w="6350">
            <a:solidFill>
              <a:srgbClr val="DEDAD0"/>
            </a:solidFill>
            <a:prstDash val="solid"/>
          </a:ln>
        </p:spPr>
      </p:sp>
      <p:sp>
        <p:nvSpPr>
          <p:cNvPr id="27" name="Text 25"/>
          <p:cNvSpPr/>
          <p:nvPr/>
        </p:nvSpPr>
        <p:spPr>
          <a:xfrm>
            <a:off x="8166433" y="3470285"/>
            <a:ext cx="3095101" cy="2691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A21"/>
                </a:solidFill>
                <a:latin typeface="IBM Plex Sans" pitchFamily="34" charset="0"/>
                <a:ea typeface="IBM Plex Sans" pitchFamily="34" charset="-122"/>
                <a:cs typeface="IBM Plex Sans" pitchFamily="34" charset="-120"/>
              </a:rPr>
              <a:t>Export and tests</a:t>
            </a:r>
            <a:endParaRPr lang="en-US" sz="1600" dirty="0"/>
          </a:p>
        </p:txBody>
      </p:sp>
      <p:sp>
        <p:nvSpPr>
          <p:cNvPr id="28" name="Text 26"/>
          <p:cNvSpPr/>
          <p:nvPr/>
        </p:nvSpPr>
        <p:spPr>
          <a:xfrm>
            <a:off x="8166433" y="3790192"/>
            <a:ext cx="3095101" cy="94997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562"/>
                </a:solidFill>
                <a:latin typeface="IBM Plex Sans" pitchFamily="34" charset="0"/>
                <a:ea typeface="IBM Plex Sans" pitchFamily="34" charset="-122"/>
                <a:cs typeface="IBM Plex Sans" pitchFamily="34" charset="-120"/>
              </a:rPr>
              <a:t>Report (.txt) and JSON downloads of every phase. About 4,200 lines of TypeScript, 13 sample programs, 13 automated tests.</a:t>
            </a:r>
            <a:endParaRPr lang="en-US" sz="1300" dirty="0"/>
          </a:p>
        </p:txBody>
      </p:sp>
      <p:sp>
        <p:nvSpPr>
          <p:cNvPr id="29" name="Text 27"/>
          <p:cNvSpPr/>
          <p:nvPr/>
        </p:nvSpPr>
        <p:spPr>
          <a:xfrm>
            <a:off x="812774" y="6238296"/>
            <a:ext cx="7194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F78"/>
                </a:solidFill>
                <a:latin typeface="IBM Plex Sans" pitchFamily="34" charset="0"/>
                <a:ea typeface="IBM Plex Sans" pitchFamily="34" charset="-122"/>
                <a:cs typeface="IBM Plex Sans" pitchFamily="34" charset="-120"/>
              </a:rPr>
              <a:t>PiGPL · BCSE307L Compiler Design</a:t>
            </a:r>
            <a:endParaRPr lang="en-US" sz="1200" dirty="0"/>
          </a:p>
        </p:txBody>
      </p:sp>
      <p:sp>
        <p:nvSpPr>
          <p:cNvPr id="30" name="Text 28"/>
          <p:cNvSpPr/>
          <p:nvPr/>
        </p:nvSpPr>
        <p:spPr>
          <a:xfrm>
            <a:off x="10058408" y="6238296"/>
            <a:ext cx="132079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F78"/>
                </a:solidFill>
                <a:latin typeface="JetBrains Mono" pitchFamily="49" charset="0"/>
                <a:ea typeface="JetBrains Mono" pitchFamily="49" charset="-122"/>
                <a:cs typeface="JetBrains Mono" pitchFamily="49" charset="-120"/>
              </a:rPr>
              <a:t>02 / 07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812774" y="660392"/>
            <a:ext cx="10883418"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2A541"/>
                </a:solidFill>
                <a:latin typeface="JetBrains Mono" pitchFamily="49" charset="0"/>
                <a:ea typeface="JetBrains Mono" pitchFamily="49" charset="-122"/>
                <a:cs typeface="JetBrains Mono" pitchFamily="49" charset="-120"/>
              </a:rPr>
              <a:t>FRONT END</a:t>
            </a:r>
            <a:endParaRPr lang="en-US" sz="1200" dirty="0"/>
          </a:p>
        </p:txBody>
      </p:sp>
      <p:sp>
        <p:nvSpPr>
          <p:cNvPr id="3" name="Text 1"/>
          <p:cNvSpPr>
            <a:spLocks noGrp="1"/>
          </p:cNvSpPr>
          <p:nvPr>
            <p:ph type="title"/>
          </p:nvPr>
        </p:nvSpPr>
        <p:spPr>
          <a:xfrm>
            <a:off x="812774" y="975300"/>
            <a:ext cx="10883418"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EEF0F3"/>
                </a:solidFill>
                <a:latin typeface="IBM Plex Sans" pitchFamily="34" charset="0"/>
                <a:ea typeface="IBM Plex Sans" pitchFamily="34" charset="-122"/>
                <a:cs typeface="IBM Plex Sans" pitchFamily="34" charset="-120"/>
              </a:rPr>
              <a:t>From characters to a tree</a:t>
            </a:r>
            <a:endParaRPr lang="en-US" sz="3200" dirty="0"/>
          </a:p>
        </p:txBody>
      </p:sp>
      <p:sp>
        <p:nvSpPr>
          <p:cNvPr id="4" name="Shape 2"/>
          <p:cNvSpPr/>
          <p:nvPr/>
        </p:nvSpPr>
        <p:spPr>
          <a:xfrm>
            <a:off x="815949" y="1674372"/>
            <a:ext cx="5073615" cy="1884906"/>
          </a:xfrm>
          <a:prstGeom prst="roundRect">
            <a:avLst>
              <a:gd name="adj" fmla="val 5222"/>
            </a:avLst>
          </a:prstGeom>
          <a:solidFill>
            <a:srgbClr val="1B1F27"/>
          </a:solidFill>
          <a:ln w="6350">
            <a:solidFill>
              <a:srgbClr val="2A303B"/>
            </a:solidFill>
            <a:prstDash val="solid"/>
          </a:ln>
        </p:spPr>
      </p:sp>
      <p:sp>
        <p:nvSpPr>
          <p:cNvPr id="5" name="Text 3"/>
          <p:cNvSpPr/>
          <p:nvPr/>
        </p:nvSpPr>
        <p:spPr>
          <a:xfrm>
            <a:off x="1045947" y="1879011"/>
            <a:ext cx="4752026" cy="2691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EF0F3"/>
                </a:solidFill>
                <a:latin typeface="IBM Plex Sans" pitchFamily="34" charset="0"/>
                <a:ea typeface="IBM Plex Sans" pitchFamily="34" charset="-122"/>
                <a:cs typeface="IBM Plex Sans" pitchFamily="34" charset="-120"/>
              </a:rPr>
              <a:t>Lexer · text to tokens</a:t>
            </a:r>
            <a:endParaRPr lang="en-US" sz="1600" dirty="0"/>
          </a:p>
        </p:txBody>
      </p:sp>
      <p:sp>
        <p:nvSpPr>
          <p:cNvPr id="6" name="Text 4"/>
          <p:cNvSpPr/>
          <p:nvPr/>
        </p:nvSpPr>
        <p:spPr>
          <a:xfrm>
            <a:off x="1131291" y="2198917"/>
            <a:ext cx="4659062" cy="1181123"/>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C4CAD3"/>
                </a:solidFill>
                <a:latin typeface="IBM Plex Sans" pitchFamily="34" charset="0"/>
                <a:ea typeface="IBM Plex Sans" pitchFamily="34" charset="-122"/>
                <a:cs typeface="IBM Plex Sans" pitchFamily="34" charset="-120"/>
              </a:rPr>
              <a:t>One pass over the source, character by character, into 42 token types</a:t>
            </a:r>
            <a:endParaRPr lang="en-US" sz="1300" dirty="0"/>
          </a:p>
          <a:p>
            <a:pPr marL="168656" indent="-168656" algn="l">
              <a:lnSpc>
                <a:spcPts val="1820"/>
              </a:lnSpc>
              <a:buSzPct val="100000"/>
              <a:buChar char="•"/>
            </a:pPr>
            <a:r>
              <a:rPr lang="en-US" sz="1300" dirty="0">
                <a:solidFill>
                  <a:srgbClr val="C4CAD3"/>
                </a:solidFill>
                <a:latin typeface="IBM Plex Sans" pitchFamily="34" charset="0"/>
                <a:ea typeface="IBM Plex Sans" pitchFamily="34" charset="-122"/>
                <a:cs typeface="IBM Plex Sans" pitchFamily="34" charset="-120"/>
              </a:rPr>
              <a:t>A bad character becomes an error with line and column; scanning goes on</a:t>
            </a:r>
            <a:endParaRPr lang="en-US" sz="1300" dirty="0"/>
          </a:p>
        </p:txBody>
      </p:sp>
      <p:sp>
        <p:nvSpPr>
          <p:cNvPr id="7" name="Shape 5"/>
          <p:cNvSpPr/>
          <p:nvPr/>
        </p:nvSpPr>
        <p:spPr>
          <a:xfrm>
            <a:off x="815949" y="3718010"/>
            <a:ext cx="5073615" cy="2116050"/>
          </a:xfrm>
          <a:prstGeom prst="roundRect">
            <a:avLst>
              <a:gd name="adj" fmla="val 4651"/>
            </a:avLst>
          </a:prstGeom>
          <a:solidFill>
            <a:srgbClr val="1B1F27"/>
          </a:solidFill>
          <a:ln w="6350">
            <a:solidFill>
              <a:srgbClr val="2A303B"/>
            </a:solidFill>
            <a:prstDash val="solid"/>
          </a:ln>
        </p:spPr>
      </p:sp>
      <p:sp>
        <p:nvSpPr>
          <p:cNvPr id="8" name="Text 6"/>
          <p:cNvSpPr/>
          <p:nvPr/>
        </p:nvSpPr>
        <p:spPr>
          <a:xfrm>
            <a:off x="1045947" y="3922647"/>
            <a:ext cx="4752026" cy="2691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EF0F3"/>
                </a:solidFill>
                <a:latin typeface="IBM Plex Sans" pitchFamily="34" charset="0"/>
                <a:ea typeface="IBM Plex Sans" pitchFamily="34" charset="-122"/>
                <a:cs typeface="IBM Plex Sans" pitchFamily="34" charset="-120"/>
              </a:rPr>
              <a:t>Parser · tokens to AST</a:t>
            </a:r>
            <a:endParaRPr lang="en-US" sz="1600" dirty="0"/>
          </a:p>
        </p:txBody>
      </p:sp>
      <p:sp>
        <p:nvSpPr>
          <p:cNvPr id="9" name="Text 7"/>
          <p:cNvSpPr/>
          <p:nvPr/>
        </p:nvSpPr>
        <p:spPr>
          <a:xfrm>
            <a:off x="1131291" y="4242555"/>
            <a:ext cx="4659062" cy="1412268"/>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C4CAD3"/>
                </a:solidFill>
                <a:latin typeface="IBM Plex Sans" pitchFamily="34" charset="0"/>
                <a:ea typeface="IBM Plex Sans" pitchFamily="34" charset="-122"/>
                <a:cs typeface="IBM Plex Sans" pitchFamily="34" charset="-120"/>
              </a:rPr>
              <a:t>Recursive descent (top-down): one function per grammar rule</a:t>
            </a:r>
            <a:endParaRPr lang="en-US" sz="1300" dirty="0"/>
          </a:p>
          <a:p>
            <a:pPr marL="168656" indent="-168656" algn="l">
              <a:lnSpc>
                <a:spcPts val="1820"/>
              </a:lnSpc>
              <a:buSzPct val="100000"/>
              <a:buChar char="•"/>
            </a:pPr>
            <a:r>
              <a:rPr lang="en-US" sz="1300" dirty="0">
                <a:solidFill>
                  <a:srgbClr val="C4CAD3"/>
                </a:solidFill>
                <a:latin typeface="IBM Plex Sans" pitchFamily="34" charset="0"/>
                <a:ea typeface="IBM Plex Sans" pitchFamily="34" charset="-122"/>
                <a:cs typeface="IBM Plex Sans" pitchFamily="34" charset="-120"/>
              </a:rPr>
              <a:t>Operator precedence comes from how the rules are layered.</a:t>
            </a:r>
            <a:endParaRPr lang="en-US" sz="1300" dirty="0"/>
          </a:p>
        </p:txBody>
      </p:sp>
      <p:sp>
        <p:nvSpPr>
          <p:cNvPr id="10" name="Text 8"/>
          <p:cNvSpPr/>
          <p:nvPr/>
        </p:nvSpPr>
        <p:spPr>
          <a:xfrm>
            <a:off x="6149883" y="1674372"/>
            <a:ext cx="5226141" cy="1729626"/>
          </a:xfrm>
          <a:prstGeom prst="roundRect">
            <a:avLst>
              <a:gd name="adj" fmla="val 5691"/>
            </a:avLst>
          </a:prstGeom>
          <a:solidFill>
            <a:srgbClr val="0D1015"/>
          </a:solidFill>
          <a:ln w="6350">
            <a:solidFill>
              <a:srgbClr val="2A303B"/>
            </a:solidFill>
            <a:prstDash val="solid"/>
          </a:ln>
        </p:spPr>
        <p:txBody>
          <a:bodyPr wrap="square" lIns="175810" tIns="150435" rIns="31304" bIns="124919" rtlCol="0" anchor="t">
            <a:normAutofit/>
          </a:bodyPr>
          <a:lstStyle/>
          <a:p>
            <a:pPr marL="0" indent="0" algn="l">
              <a:lnSpc>
                <a:spcPts val="1800"/>
              </a:lnSpc>
              <a:buNone/>
            </a:pPr>
            <a:r>
              <a:rPr lang="en-US" sz="1200" dirty="0">
                <a:solidFill>
                  <a:srgbClr val="C4CAD3"/>
                </a:solidFill>
                <a:latin typeface="JetBrains Mono" pitchFamily="49" charset="0"/>
                <a:ea typeface="JetBrains Mono" pitchFamily="49" charset="-122"/>
                <a:cs typeface="JetBrains Mono" pitchFamily="49" charset="-120"/>
              </a:rPr>
              <a:t>or_expr    ::= and_expr (</a:t>
            </a:r>
            <a:r>
              <a:rPr lang="en-US" sz="1200" dirty="0">
                <a:solidFill>
                  <a:srgbClr val="F2A541"/>
                </a:solidFill>
                <a:latin typeface="JetBrains Mono" pitchFamily="49" charset="0"/>
                <a:ea typeface="JetBrains Mono" pitchFamily="49" charset="-122"/>
                <a:cs typeface="JetBrains Mono" pitchFamily="49" charset="-120"/>
              </a:rPr>
              <a:t>"or"</a:t>
            </a:r>
            <a:r>
              <a:rPr lang="en-US" sz="1200" dirty="0">
                <a:solidFill>
                  <a:srgbClr val="C4CAD3"/>
                </a:solidFill>
                <a:latin typeface="JetBrains Mono" pitchFamily="49" charset="0"/>
                <a:ea typeface="JetBrains Mono" pitchFamily="49" charset="-122"/>
                <a:cs typeface="JetBrains Mono" pitchFamily="49" charset="-120"/>
              </a:rPr>
              <a:t> and_expr)*</a:t>
            </a:r>
            <a:endParaRPr lang="en-US" sz="1200" dirty="0"/>
          </a:p>
          <a:p>
            <a:pPr marL="0" indent="0" algn="l">
              <a:lnSpc>
                <a:spcPts val="1800"/>
              </a:lnSpc>
              <a:buNone/>
            </a:pPr>
            <a:r>
              <a:rPr lang="en-US" sz="1200" dirty="0">
                <a:solidFill>
                  <a:srgbClr val="C4CAD3"/>
                </a:solidFill>
                <a:latin typeface="JetBrains Mono" pitchFamily="49" charset="0"/>
                <a:ea typeface="JetBrains Mono" pitchFamily="49" charset="-122"/>
                <a:cs typeface="JetBrains Mono" pitchFamily="49" charset="-120"/>
              </a:rPr>
              <a:t>and_expr   ::= not_expr (</a:t>
            </a:r>
            <a:r>
              <a:rPr lang="en-US" sz="1200" dirty="0">
                <a:solidFill>
                  <a:srgbClr val="F2A541"/>
                </a:solidFill>
                <a:latin typeface="JetBrains Mono" pitchFamily="49" charset="0"/>
                <a:ea typeface="JetBrains Mono" pitchFamily="49" charset="-122"/>
                <a:cs typeface="JetBrains Mono" pitchFamily="49" charset="-120"/>
              </a:rPr>
              <a:t>"and"</a:t>
            </a:r>
            <a:r>
              <a:rPr lang="en-US" sz="1200" dirty="0">
                <a:solidFill>
                  <a:srgbClr val="C4CAD3"/>
                </a:solidFill>
                <a:latin typeface="JetBrains Mono" pitchFamily="49" charset="0"/>
                <a:ea typeface="JetBrains Mono" pitchFamily="49" charset="-122"/>
                <a:cs typeface="JetBrains Mono" pitchFamily="49" charset="-120"/>
              </a:rPr>
              <a:t> not_expr)*</a:t>
            </a:r>
            <a:endParaRPr lang="en-US" sz="1200" dirty="0"/>
          </a:p>
          <a:p>
            <a:pPr marL="0" indent="0" algn="l">
              <a:lnSpc>
                <a:spcPts val="1800"/>
              </a:lnSpc>
              <a:buNone/>
            </a:pPr>
            <a:r>
              <a:rPr lang="en-US" sz="1200" dirty="0">
                <a:solidFill>
                  <a:srgbClr val="C4CAD3"/>
                </a:solidFill>
                <a:latin typeface="JetBrains Mono" pitchFamily="49" charset="0"/>
                <a:ea typeface="JetBrains Mono" pitchFamily="49" charset="-122"/>
                <a:cs typeface="JetBrains Mono" pitchFamily="49" charset="-120"/>
              </a:rPr>
              <a:t>comparison ::= term (relop term)*</a:t>
            </a:r>
            <a:endParaRPr lang="en-US" sz="1200" dirty="0"/>
          </a:p>
          <a:p>
            <a:pPr marL="0" indent="0" algn="l">
              <a:lnSpc>
                <a:spcPts val="1800"/>
              </a:lnSpc>
              <a:buNone/>
            </a:pPr>
            <a:r>
              <a:rPr lang="en-US" sz="1200" dirty="0">
                <a:solidFill>
                  <a:srgbClr val="C4CAD3"/>
                </a:solidFill>
                <a:latin typeface="JetBrains Mono" pitchFamily="49" charset="0"/>
                <a:ea typeface="JetBrains Mono" pitchFamily="49" charset="-122"/>
                <a:cs typeface="JetBrains Mono" pitchFamily="49" charset="-120"/>
              </a:rPr>
              <a:t>term       ::= factor ((</a:t>
            </a:r>
            <a:r>
              <a:rPr lang="en-US" sz="1200" dirty="0">
                <a:solidFill>
                  <a:srgbClr val="F2A541"/>
                </a:solidFill>
                <a:latin typeface="JetBrains Mono" pitchFamily="49" charset="0"/>
                <a:ea typeface="JetBrains Mono" pitchFamily="49" charset="-122"/>
                <a:cs typeface="JetBrains Mono" pitchFamily="49" charset="-120"/>
              </a:rPr>
              <a:t>"+"</a:t>
            </a:r>
            <a:r>
              <a:rPr lang="en-US" sz="1200" dirty="0">
                <a:solidFill>
                  <a:srgbClr val="C4CAD3"/>
                </a:solidFill>
                <a:latin typeface="JetBrains Mono" pitchFamily="49" charset="0"/>
                <a:ea typeface="JetBrains Mono" pitchFamily="49" charset="-122"/>
                <a:cs typeface="JetBrains Mono" pitchFamily="49" charset="-120"/>
              </a:rPr>
              <a:t>|</a:t>
            </a:r>
            <a:r>
              <a:rPr lang="en-US" sz="1200" dirty="0">
                <a:solidFill>
                  <a:srgbClr val="F2A541"/>
                </a:solidFill>
                <a:latin typeface="JetBrains Mono" pitchFamily="49" charset="0"/>
                <a:ea typeface="JetBrains Mono" pitchFamily="49" charset="-122"/>
                <a:cs typeface="JetBrains Mono" pitchFamily="49" charset="-120"/>
              </a:rPr>
              <a:t>"-"</a:t>
            </a:r>
            <a:r>
              <a:rPr lang="en-US" sz="1200" dirty="0">
                <a:solidFill>
                  <a:srgbClr val="C4CAD3"/>
                </a:solidFill>
                <a:latin typeface="JetBrains Mono" pitchFamily="49" charset="0"/>
                <a:ea typeface="JetBrains Mono" pitchFamily="49" charset="-122"/>
                <a:cs typeface="JetBrains Mono" pitchFamily="49" charset="-120"/>
              </a:rPr>
              <a:t>) factor)*</a:t>
            </a:r>
            <a:endParaRPr lang="en-US" sz="1200" dirty="0"/>
          </a:p>
          <a:p>
            <a:pPr marL="0" indent="0" algn="l">
              <a:lnSpc>
                <a:spcPts val="1800"/>
              </a:lnSpc>
              <a:buNone/>
            </a:pPr>
            <a:r>
              <a:rPr lang="en-US" sz="1200" dirty="0">
                <a:solidFill>
                  <a:srgbClr val="C4CAD3"/>
                </a:solidFill>
                <a:latin typeface="JetBrains Mono" pitchFamily="49" charset="0"/>
                <a:ea typeface="JetBrains Mono" pitchFamily="49" charset="-122"/>
                <a:cs typeface="JetBrains Mono" pitchFamily="49" charset="-120"/>
              </a:rPr>
              <a:t>factor     ::= unary ((</a:t>
            </a:r>
            <a:r>
              <a:rPr lang="en-US" sz="1200" dirty="0">
                <a:solidFill>
                  <a:srgbClr val="F2A541"/>
                </a:solidFill>
                <a:latin typeface="JetBrains Mono" pitchFamily="49" charset="0"/>
                <a:ea typeface="JetBrains Mono" pitchFamily="49" charset="-122"/>
                <a:cs typeface="JetBrains Mono" pitchFamily="49" charset="-120"/>
              </a:rPr>
              <a:t>"*"</a:t>
            </a:r>
            <a:r>
              <a:rPr lang="en-US" sz="1200" dirty="0">
                <a:solidFill>
                  <a:srgbClr val="C4CAD3"/>
                </a:solidFill>
                <a:latin typeface="JetBrains Mono" pitchFamily="49" charset="0"/>
                <a:ea typeface="JetBrains Mono" pitchFamily="49" charset="-122"/>
                <a:cs typeface="JetBrains Mono" pitchFamily="49" charset="-120"/>
              </a:rPr>
              <a:t>|</a:t>
            </a:r>
            <a:r>
              <a:rPr lang="en-US" sz="1200" dirty="0">
                <a:solidFill>
                  <a:srgbClr val="F2A541"/>
                </a:solidFill>
                <a:latin typeface="JetBrains Mono" pitchFamily="49" charset="0"/>
                <a:ea typeface="JetBrains Mono" pitchFamily="49" charset="-122"/>
                <a:cs typeface="JetBrains Mono" pitchFamily="49" charset="-120"/>
              </a:rPr>
              <a:t>"/"</a:t>
            </a:r>
            <a:r>
              <a:rPr lang="en-US" sz="1200" dirty="0">
                <a:solidFill>
                  <a:srgbClr val="C4CAD3"/>
                </a:solidFill>
                <a:latin typeface="JetBrains Mono" pitchFamily="49" charset="0"/>
                <a:ea typeface="JetBrains Mono" pitchFamily="49" charset="-122"/>
                <a:cs typeface="JetBrains Mono" pitchFamily="49" charset="-120"/>
              </a:rPr>
              <a:t>|</a:t>
            </a:r>
            <a:r>
              <a:rPr lang="en-US" sz="1200" dirty="0">
                <a:solidFill>
                  <a:srgbClr val="F2A541"/>
                </a:solidFill>
                <a:latin typeface="JetBrains Mono" pitchFamily="49" charset="0"/>
                <a:ea typeface="JetBrains Mono" pitchFamily="49" charset="-122"/>
                <a:cs typeface="JetBrains Mono" pitchFamily="49" charset="-120"/>
              </a:rPr>
              <a:t>"%"</a:t>
            </a:r>
            <a:r>
              <a:rPr lang="en-US" sz="1200" dirty="0">
                <a:solidFill>
                  <a:srgbClr val="C4CAD3"/>
                </a:solidFill>
                <a:latin typeface="JetBrains Mono" pitchFamily="49" charset="0"/>
                <a:ea typeface="JetBrains Mono" pitchFamily="49" charset="-122"/>
                <a:cs typeface="JetBrains Mono" pitchFamily="49" charset="-120"/>
              </a:rPr>
              <a:t>) unary)*</a:t>
            </a:r>
            <a:endParaRPr lang="en-US" sz="1200" dirty="0"/>
          </a:p>
          <a:p>
            <a:pPr marL="0" indent="0" algn="l">
              <a:lnSpc>
                <a:spcPts val="1800"/>
              </a:lnSpc>
              <a:buNone/>
            </a:pPr>
            <a:r>
              <a:rPr lang="en-US" sz="1200" dirty="0">
                <a:solidFill>
                  <a:srgbClr val="7F8896"/>
                </a:solidFill>
                <a:latin typeface="JetBrains Mono" pitchFamily="49" charset="0"/>
                <a:ea typeface="JetBrains Mono" pitchFamily="49" charset="-122"/>
                <a:cs typeface="JetBrains Mono" pitchFamily="49" charset="-120"/>
              </a:rPr>
              <a:t># (…)* repetition replaces left recursion</a:t>
            </a:r>
            <a:endParaRPr lang="en-US" sz="1200" dirty="0"/>
          </a:p>
        </p:txBody>
      </p:sp>
      <p:sp>
        <p:nvSpPr>
          <p:cNvPr id="11" name="Shape 9"/>
          <p:cNvSpPr/>
          <p:nvPr/>
        </p:nvSpPr>
        <p:spPr>
          <a:xfrm>
            <a:off x="6146708" y="3559555"/>
            <a:ext cx="5232346" cy="1904951"/>
          </a:xfrm>
          <a:prstGeom prst="roundRect">
            <a:avLst>
              <a:gd name="adj" fmla="val 5333"/>
            </a:avLst>
          </a:prstGeom>
          <a:solidFill>
            <a:srgbClr val="16191F"/>
          </a:solidFill>
          <a:ln/>
        </p:spPr>
      </p:sp>
      <p:pic>
        <p:nvPicPr>
          <p:cNvPr id="12" name="Image 0" descr="AST view of the If/else sample: Program node with three let declarations and an if node with condition, then and else branches"/>
          <p:cNvPicPr>
            <a:picLocks noChangeAspect="1"/>
          </p:cNvPicPr>
          <p:nvPr/>
        </p:nvPicPr>
        <p:blipFill>
          <a:blip r:embed="rId3"/>
          <a:stretch>
            <a:fillRect/>
          </a:stretch>
        </p:blipFill>
        <p:spPr>
          <a:xfrm>
            <a:off x="6381839" y="3565905"/>
            <a:ext cx="4762083" cy="1892251"/>
          </a:xfrm>
          <a:prstGeom prst="rect">
            <a:avLst/>
          </a:prstGeom>
        </p:spPr>
      </p:pic>
      <p:sp>
        <p:nvSpPr>
          <p:cNvPr id="13" name="Shape 10"/>
          <p:cNvSpPr/>
          <p:nvPr/>
        </p:nvSpPr>
        <p:spPr>
          <a:xfrm>
            <a:off x="6149883" y="3562730"/>
            <a:ext cx="5225996" cy="1898601"/>
          </a:xfrm>
          <a:prstGeom prst="roundRect">
            <a:avLst>
              <a:gd name="adj" fmla="val 5184"/>
            </a:avLst>
          </a:prstGeom>
          <a:noFill/>
          <a:ln w="6350">
            <a:solidFill>
              <a:srgbClr val="2A303B"/>
            </a:solidFill>
            <a:prstDash val="solid"/>
          </a:ln>
        </p:spPr>
      </p:sp>
      <p:sp>
        <p:nvSpPr>
          <p:cNvPr id="14" name="Text 11"/>
          <p:cNvSpPr/>
          <p:nvPr/>
        </p:nvSpPr>
        <p:spPr>
          <a:xfrm>
            <a:off x="812774" y="6238297"/>
            <a:ext cx="7194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IBM Plex Sans" pitchFamily="34" charset="0"/>
                <a:ea typeface="IBM Plex Sans" pitchFamily="34" charset="-122"/>
                <a:cs typeface="IBM Plex Sans" pitchFamily="34" charset="-120"/>
              </a:rPr>
              <a:t>PiGPL · BCSE307L Compiler Design</a:t>
            </a:r>
            <a:endParaRPr lang="en-US" sz="1200" dirty="0"/>
          </a:p>
        </p:txBody>
      </p:sp>
      <p:sp>
        <p:nvSpPr>
          <p:cNvPr id="15" name="Text 12"/>
          <p:cNvSpPr/>
          <p:nvPr/>
        </p:nvSpPr>
        <p:spPr>
          <a:xfrm>
            <a:off x="10058408" y="6238297"/>
            <a:ext cx="132079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93A0"/>
                </a:solidFill>
                <a:latin typeface="JetBrains Mono" pitchFamily="49" charset="0"/>
                <a:ea typeface="JetBrains Mono" pitchFamily="49" charset="-122"/>
                <a:cs typeface="JetBrains Mono" pitchFamily="49" charset="-120"/>
              </a:rPr>
              <a:t>03 / 07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A"/>
        </a:solidFill>
        <a:effectLst/>
      </p:bgPr>
    </p:bg>
    <p:spTree>
      <p:nvGrpSpPr>
        <p:cNvPr id="1" name=""/>
        <p:cNvGrpSpPr/>
        <p:nvPr/>
      </p:nvGrpSpPr>
      <p:grpSpPr>
        <a:xfrm>
          <a:off x="0" y="0"/>
          <a:ext cx="0" cy="0"/>
          <a:chOff x="0" y="0"/>
          <a:chExt cx="0" cy="0"/>
        </a:xfrm>
      </p:grpSpPr>
      <p:sp>
        <p:nvSpPr>
          <p:cNvPr id="2" name="Text 0"/>
          <p:cNvSpPr/>
          <p:nvPr/>
        </p:nvSpPr>
        <p:spPr>
          <a:xfrm>
            <a:off x="812774" y="660392"/>
            <a:ext cx="10883418"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9A520A"/>
                </a:solidFill>
                <a:latin typeface="JetBrains Mono" pitchFamily="49" charset="0"/>
                <a:ea typeface="JetBrains Mono" pitchFamily="49" charset="-122"/>
                <a:cs typeface="JetBrains Mono" pitchFamily="49" charset="-120"/>
              </a:rPr>
              <a:t>MIDDLE</a:t>
            </a:r>
            <a:endParaRPr lang="en-US" sz="1200" dirty="0"/>
          </a:p>
        </p:txBody>
      </p:sp>
      <p:sp>
        <p:nvSpPr>
          <p:cNvPr id="3" name="Text 1"/>
          <p:cNvSpPr>
            <a:spLocks noGrp="1"/>
          </p:cNvSpPr>
          <p:nvPr>
            <p:ph type="title"/>
          </p:nvPr>
        </p:nvSpPr>
        <p:spPr>
          <a:xfrm>
            <a:off x="812774" y="975299"/>
            <a:ext cx="10883418"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61A21"/>
                </a:solidFill>
                <a:latin typeface="IBM Plex Sans" pitchFamily="34" charset="0"/>
                <a:ea typeface="IBM Plex Sans" pitchFamily="34" charset="-122"/>
                <a:cs typeface="IBM Plex Sans" pitchFamily="34" charset="-120"/>
              </a:rPr>
              <a:t>Names, scopes and types</a:t>
            </a:r>
            <a:endParaRPr lang="en-US" sz="3200" dirty="0"/>
          </a:p>
        </p:txBody>
      </p:sp>
      <p:sp>
        <p:nvSpPr>
          <p:cNvPr id="4" name="Text 2"/>
          <p:cNvSpPr/>
          <p:nvPr/>
        </p:nvSpPr>
        <p:spPr>
          <a:xfrm>
            <a:off x="812774" y="1671197"/>
            <a:ext cx="58603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F78"/>
                </a:solidFill>
                <a:latin typeface="IBM Plex Sans" pitchFamily="34" charset="0"/>
                <a:ea typeface="IBM Plex Sans" pitchFamily="34" charset="-122"/>
                <a:cs typeface="IBM Plex Sans" pitchFamily="34" charset="-120"/>
              </a:rPr>
              <a:t>Symbol table · Functions and For-range samples</a:t>
            </a:r>
            <a:endParaRPr lang="en-US" sz="1200" dirty="0"/>
          </a:p>
        </p:txBody>
      </p:sp>
      <p:sp>
        <p:nvSpPr>
          <p:cNvPr id="5" name="Shape 3"/>
          <p:cNvSpPr/>
          <p:nvPr/>
        </p:nvSpPr>
        <p:spPr>
          <a:xfrm>
            <a:off x="812774" y="2011465"/>
            <a:ext cx="5689708" cy="1989438"/>
          </a:xfrm>
          <a:prstGeom prst="roundRect">
            <a:avLst>
              <a:gd name="adj" fmla="val 3830"/>
            </a:avLst>
          </a:prstGeom>
          <a:solidFill>
            <a:srgbClr val="FBFAF6"/>
          </a:solidFill>
          <a:ln/>
        </p:spPr>
      </p:sp>
      <p:sp>
        <p:nvSpPr>
          <p:cNvPr id="6" name="Shape 4"/>
          <p:cNvSpPr/>
          <p:nvPr/>
        </p:nvSpPr>
        <p:spPr>
          <a:xfrm>
            <a:off x="812774" y="2011465"/>
            <a:ext cx="5689708" cy="1989438"/>
          </a:xfrm>
          <a:custGeom>
            <a:avLst/>
            <a:gdLst/>
            <a:ahLst/>
            <a:cxnLst/>
            <a:rect l="l" t="t" r="r" b="b"/>
            <a:pathLst>
              <a:path w="5689708" h="1989438">
                <a:moveTo>
                  <a:pt x="5613508" y="0"/>
                </a:moveTo>
                <a:lnTo>
                  <a:pt x="5613508" y="0"/>
                </a:lnTo>
                <a:arcTo wR="76200" hR="76200" stAng="16200000" swAng="5400000"/>
                <a:lnTo>
                  <a:pt x="5689708" y="1913238"/>
                </a:lnTo>
                <a:arcTo wR="76200" hR="76200" stAng="0" swAng="5400000"/>
                <a:lnTo>
                  <a:pt x="76200" y="1989438"/>
                </a:lnTo>
                <a:arcTo wR="76200" hR="76200" stAng="5400000" swAng="5400000"/>
                <a:lnTo>
                  <a:pt x="0" y="1913238"/>
                </a:lnTo>
                <a:arcTo wR="76200" hR="69850" stAng="10800000" swAng="-5400000"/>
                <a:lnTo>
                  <a:pt x="5613508" y="1983088"/>
                </a:lnTo>
                <a:arcTo wR="69850" hR="69850" stAng="5400000" swAng="-5400000"/>
                <a:lnTo>
                  <a:pt x="5683358" y="76200"/>
                </a:lnTo>
                <a:arcTo wR="69850" hR="76200" stAng="0" swAng="-5400000"/>
                <a:close/>
              </a:path>
            </a:pathLst>
          </a:custGeom>
          <a:solidFill>
            <a:srgbClr val="DEDAD0"/>
          </a:solidFill>
          <a:ln/>
        </p:spPr>
      </p:sp>
      <p:sp>
        <p:nvSpPr>
          <p:cNvPr id="7" name="Shape 5"/>
          <p:cNvSpPr/>
          <p:nvPr/>
        </p:nvSpPr>
        <p:spPr>
          <a:xfrm>
            <a:off x="812774" y="2011465"/>
            <a:ext cx="5689708" cy="1989438"/>
          </a:xfrm>
          <a:custGeom>
            <a:avLst/>
            <a:gdLst/>
            <a:ahLst/>
            <a:cxnLst/>
            <a:rect l="l" t="t" r="r" b="b"/>
            <a:pathLst>
              <a:path w="5689708" h="1989438">
                <a:moveTo>
                  <a:pt x="76200" y="1989438"/>
                </a:moveTo>
                <a:lnTo>
                  <a:pt x="76200" y="1989438"/>
                </a:lnTo>
                <a:arcTo wR="76200" hR="76200" stAng="5400000" swAng="5400000"/>
                <a:lnTo>
                  <a:pt x="0" y="76200"/>
                </a:lnTo>
                <a:arcTo wR="76200" hR="76200" stAng="10800000" swAng="5400000"/>
                <a:lnTo>
                  <a:pt x="5613508" y="0"/>
                </a:lnTo>
                <a:arcTo wR="76200" hR="76200" stAng="16200000" swAng="5400000"/>
                <a:lnTo>
                  <a:pt x="5689708" y="76200"/>
                </a:lnTo>
                <a:arcTo wR="76200" hR="66925" stAng="0" swAng="-5400000"/>
                <a:lnTo>
                  <a:pt x="76200" y="9275"/>
                </a:lnTo>
                <a:arcTo wR="66925" hR="66925" stAng="16200000" swAng="-5400000"/>
                <a:lnTo>
                  <a:pt x="9275" y="1913238"/>
                </a:lnTo>
                <a:arcTo wR="66925" hR="762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049" y="2020740"/>
          <a:ext cx="5675795" cy="1975524"/>
        </p:xfrm>
        <a:graphic>
          <a:graphicData uri="http://schemas.openxmlformats.org/drawingml/2006/table">
            <a:tbl>
              <a:tblPr/>
              <a:tblGrid>
                <a:gridCol w="908127">
                  <a:extLst>
                    <a:ext uri="{9D8B030D-6E8A-4147-A177-3AD203B41FA5}">
                      <a16:colId xmlns:a16="http://schemas.microsoft.com/office/drawing/2014/main" val="20000"/>
                    </a:ext>
                  </a:extLst>
                </a:gridCol>
                <a:gridCol w="2156802">
                  <a:extLst>
                    <a:ext uri="{9D8B030D-6E8A-4147-A177-3AD203B41FA5}">
                      <a16:colId xmlns:a16="http://schemas.microsoft.com/office/drawing/2014/main" val="20001"/>
                    </a:ext>
                  </a:extLst>
                </a:gridCol>
                <a:gridCol w="1475707">
                  <a:extLst>
                    <a:ext uri="{9D8B030D-6E8A-4147-A177-3AD203B41FA5}">
                      <a16:colId xmlns:a16="http://schemas.microsoft.com/office/drawing/2014/main" val="20002"/>
                    </a:ext>
                  </a:extLst>
                </a:gridCol>
                <a:gridCol w="1135159">
                  <a:extLst>
                    <a:ext uri="{9D8B030D-6E8A-4147-A177-3AD203B41FA5}">
                      <a16:colId xmlns:a16="http://schemas.microsoft.com/office/drawing/2014/main" val="20003"/>
                    </a:ext>
                  </a:extLst>
                </a:gridCol>
              </a:tblGrid>
              <a:tr h="329254">
                <a:tc>
                  <a:txBody>
                    <a:bodyPr/>
                    <a:lstStyle/>
                    <a:p>
                      <a:pPr marL="0" indent="0">
                        <a:lnSpc>
                          <a:spcPts val="1680"/>
                        </a:lnSpc>
                        <a:buNone/>
                      </a:pPr>
                      <a:r>
                        <a:rPr lang="en-US" sz="1200" b="1" dirty="0">
                          <a:solidFill>
                            <a:srgbClr val="161A21"/>
                          </a:solidFill>
                          <a:latin typeface="JetBrains Mono" pitchFamily="49" charset="0"/>
                          <a:ea typeface="JetBrains Mono" pitchFamily="49" charset="-122"/>
                          <a:cs typeface="JetBrains Mono" pitchFamily="49" charset="-120"/>
                        </a:rPr>
                        <a:t>Name</a:t>
                      </a:r>
                      <a:endParaRPr lang="en-US" sz="1200" dirty="0">
                        <a:latin typeface="JetBrains Mono" charset="0"/>
                        <a:ea typeface="JetBrains Mono" charset="0"/>
                        <a:cs typeface="JetBrains Mono" charset="0"/>
                      </a:endParaRPr>
                    </a:p>
                  </a:txBody>
                  <a:tcPr marL="53340" marR="53340" marT="53340" marB="53340">
                    <a:lnL w="0" cap="flat" cmpd="sng" algn="ctr">
                      <a:noFill/>
                    </a:lnL>
                    <a:lnR w="12700" cap="flat" cmpd="sng" algn="ctr">
                      <a:solidFill>
                        <a:srgbClr val="B9B6AD"/>
                      </a:solidFill>
                      <a:prstDash val="solid"/>
                      <a:round/>
                      <a:headEnd type="none" w="med" len="med"/>
                      <a:tailEnd type="none" w="med" len="med"/>
                    </a:lnR>
                    <a:lnT w="0" cap="flat" cmpd="sng" algn="ctr">
                      <a:noFill/>
                    </a:lnT>
                    <a:lnB w="12700" cap="flat" cmpd="sng" algn="ctr">
                      <a:solidFill>
                        <a:srgbClr val="B9B6AD"/>
                      </a:solidFill>
                      <a:prstDash val="solid"/>
                      <a:round/>
                      <a:headEnd type="none" w="med" len="med"/>
                      <a:tailEnd type="none" w="med" len="med"/>
                    </a:lnB>
                    <a:solidFill>
                      <a:srgbClr val="E8E4D9"/>
                    </a:solidFill>
                  </a:tcPr>
                </a:tc>
                <a:tc>
                  <a:txBody>
                    <a:bodyPr/>
                    <a:lstStyle/>
                    <a:p>
                      <a:pPr marL="0" indent="0">
                        <a:lnSpc>
                          <a:spcPts val="1680"/>
                        </a:lnSpc>
                        <a:buNone/>
                      </a:pPr>
                      <a:r>
                        <a:rPr lang="en-US" sz="1200" b="1" dirty="0">
                          <a:solidFill>
                            <a:srgbClr val="161A21"/>
                          </a:solidFill>
                          <a:latin typeface="JetBrains Mono" pitchFamily="49" charset="0"/>
                          <a:ea typeface="JetBrains Mono" pitchFamily="49" charset="-122"/>
                          <a:cs typeface="JetBrains Mono" pitchFamily="49" charset="-120"/>
                        </a:rPr>
                        <a:t>Type</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B9B6AD"/>
                      </a:solidFill>
                      <a:prstDash val="solid"/>
                      <a:round/>
                      <a:headEnd type="none" w="med" len="med"/>
                      <a:tailEnd type="none" w="med" len="med"/>
                    </a:lnL>
                    <a:lnR w="12700" cap="flat" cmpd="sng" algn="ctr">
                      <a:solidFill>
                        <a:srgbClr val="B9B6AD"/>
                      </a:solidFill>
                      <a:prstDash val="solid"/>
                      <a:round/>
                      <a:headEnd type="none" w="med" len="med"/>
                      <a:tailEnd type="none" w="med" len="med"/>
                    </a:lnR>
                    <a:lnT w="0" cap="flat" cmpd="sng" algn="ctr">
                      <a:noFill/>
                    </a:lnT>
                    <a:lnB w="12700" cap="flat" cmpd="sng" algn="ctr">
                      <a:solidFill>
                        <a:srgbClr val="B9B6AD"/>
                      </a:solidFill>
                      <a:prstDash val="solid"/>
                      <a:round/>
                      <a:headEnd type="none" w="med" len="med"/>
                      <a:tailEnd type="none" w="med" len="med"/>
                    </a:lnB>
                    <a:solidFill>
                      <a:srgbClr val="E8E4D9"/>
                    </a:solidFill>
                  </a:tcPr>
                </a:tc>
                <a:tc>
                  <a:txBody>
                    <a:bodyPr/>
                    <a:lstStyle/>
                    <a:p>
                      <a:pPr marL="0" indent="0">
                        <a:lnSpc>
                          <a:spcPts val="1680"/>
                        </a:lnSpc>
                        <a:buNone/>
                      </a:pPr>
                      <a:r>
                        <a:rPr lang="en-US" sz="1200" b="1" dirty="0">
                          <a:solidFill>
                            <a:srgbClr val="161A21"/>
                          </a:solidFill>
                          <a:latin typeface="JetBrains Mono" pitchFamily="49" charset="0"/>
                          <a:ea typeface="JetBrains Mono" pitchFamily="49" charset="-122"/>
                          <a:cs typeface="JetBrains Mono" pitchFamily="49" charset="-120"/>
                        </a:rPr>
                        <a:t>Scope</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B9B6AD"/>
                      </a:solidFill>
                      <a:prstDash val="solid"/>
                      <a:round/>
                      <a:headEnd type="none" w="med" len="med"/>
                      <a:tailEnd type="none" w="med" len="med"/>
                    </a:lnL>
                    <a:lnR w="12700" cap="flat" cmpd="sng" algn="ctr">
                      <a:solidFill>
                        <a:srgbClr val="B9B6AD"/>
                      </a:solidFill>
                      <a:prstDash val="solid"/>
                      <a:round/>
                      <a:headEnd type="none" w="med" len="med"/>
                      <a:tailEnd type="none" w="med" len="med"/>
                    </a:lnR>
                    <a:lnT w="0" cap="flat" cmpd="sng" algn="ctr">
                      <a:noFill/>
                    </a:lnT>
                    <a:lnB w="12700" cap="flat" cmpd="sng" algn="ctr">
                      <a:solidFill>
                        <a:srgbClr val="B9B6AD"/>
                      </a:solidFill>
                      <a:prstDash val="solid"/>
                      <a:round/>
                      <a:headEnd type="none" w="med" len="med"/>
                      <a:tailEnd type="none" w="med" len="med"/>
                    </a:lnB>
                    <a:solidFill>
                      <a:srgbClr val="E8E4D9"/>
                    </a:solidFill>
                  </a:tcPr>
                </a:tc>
                <a:tc>
                  <a:txBody>
                    <a:bodyPr/>
                    <a:lstStyle/>
                    <a:p>
                      <a:pPr marL="0" indent="0">
                        <a:lnSpc>
                          <a:spcPts val="1680"/>
                        </a:lnSpc>
                        <a:buNone/>
                      </a:pPr>
                      <a:r>
                        <a:rPr lang="en-US" sz="1200" b="1" dirty="0">
                          <a:solidFill>
                            <a:srgbClr val="161A21"/>
                          </a:solidFill>
                          <a:latin typeface="JetBrains Mono" pitchFamily="49" charset="0"/>
                          <a:ea typeface="JetBrains Mono" pitchFamily="49" charset="-122"/>
                          <a:cs typeface="JetBrains Mono" pitchFamily="49" charset="-120"/>
                        </a:rPr>
                        <a:t>Kind</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B9B6AD"/>
                      </a:solidFill>
                      <a:prstDash val="solid"/>
                      <a:round/>
                      <a:headEnd type="none" w="med" len="med"/>
                      <a:tailEnd type="none" w="med" len="med"/>
                    </a:lnL>
                    <a:lnR w="12700" cap="flat" cmpd="sng" algn="ctr">
                      <a:solidFill>
                        <a:srgbClr val="B9B6AD"/>
                      </a:solidFill>
                      <a:prstDash val="solid"/>
                      <a:round/>
                      <a:headEnd type="none" w="med" len="med"/>
                      <a:tailEnd type="none" w="med" len="med"/>
                    </a:lnR>
                    <a:lnT w="0" cap="flat" cmpd="sng" algn="ctr">
                      <a:noFill/>
                    </a:lnT>
                    <a:lnB w="12700" cap="flat" cmpd="sng" algn="ctr">
                      <a:solidFill>
                        <a:srgbClr val="B9B6AD"/>
                      </a:solidFill>
                      <a:prstDash val="solid"/>
                      <a:round/>
                      <a:headEnd type="none" w="med" len="med"/>
                      <a:tailEnd type="none" w="med" len="med"/>
                    </a:lnB>
                    <a:solidFill>
                      <a:srgbClr val="E8E4D9"/>
                    </a:solidFill>
                  </a:tcPr>
                </a:tc>
                <a:extLst>
                  <a:ext uri="{0D108BD9-81ED-4DB2-BD59-A6C34878D82A}">
                    <a16:rowId xmlns:a16="http://schemas.microsoft.com/office/drawing/2014/main" val="10000"/>
                  </a:ext>
                </a:extLst>
              </a:tr>
              <a:tr h="329254">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add</a:t>
                      </a:r>
                      <a:endParaRPr lang="en-US" sz="1200" dirty="0">
                        <a:latin typeface="JetBrains Mono" charset="0"/>
                        <a:ea typeface="JetBrains Mono" charset="0"/>
                        <a:cs typeface="JetBrains Mono"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B9B6AD"/>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fn(int,int)-&gt;int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9B6AD"/>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global</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9B6AD"/>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fn</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9B6AD"/>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extLst>
                  <a:ext uri="{0D108BD9-81ED-4DB2-BD59-A6C34878D82A}">
                    <a16:rowId xmlns:a16="http://schemas.microsoft.com/office/drawing/2014/main" val="10001"/>
                  </a:ext>
                </a:extLst>
              </a:tr>
              <a:tr h="329254">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a</a:t>
                      </a:r>
                      <a:endParaRPr lang="en-US" sz="1200" dirty="0">
                        <a:latin typeface="JetBrains Mono" charset="0"/>
                        <a:ea typeface="JetBrains Mono" charset="0"/>
                        <a:cs typeface="JetBrains Mono"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int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fn:add</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param</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extLst>
                  <a:ext uri="{0D108BD9-81ED-4DB2-BD59-A6C34878D82A}">
                    <a16:rowId xmlns:a16="http://schemas.microsoft.com/office/drawing/2014/main" val="10002"/>
                  </a:ext>
                </a:extLst>
              </a:tr>
              <a:tr h="329254">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b</a:t>
                      </a:r>
                      <a:endParaRPr lang="en-US" sz="1200" dirty="0">
                        <a:latin typeface="JetBrains Mono" charset="0"/>
                        <a:ea typeface="JetBrains Mono" charset="0"/>
                        <a:cs typeface="JetBrains Mono"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int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fn:add</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param</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extLst>
                  <a:ext uri="{0D108BD9-81ED-4DB2-BD59-A6C34878D82A}">
                    <a16:rowId xmlns:a16="http://schemas.microsoft.com/office/drawing/2014/main" val="10003"/>
                  </a:ext>
                </a:extLst>
              </a:tr>
              <a:tr h="329254">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s</a:t>
                      </a:r>
                      <a:endParaRPr lang="en-US" sz="1200" dirty="0">
                        <a:latin typeface="JetBrains Mono" charset="0"/>
                        <a:ea typeface="JetBrains Mono" charset="0"/>
                        <a:cs typeface="JetBrains Mono"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int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global</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var</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extLst>
                  <a:ext uri="{0D108BD9-81ED-4DB2-BD59-A6C34878D82A}">
                    <a16:rowId xmlns:a16="http://schemas.microsoft.com/office/drawing/2014/main" val="10004"/>
                  </a:ext>
                </a:extLst>
              </a:tr>
              <a:tr h="329254">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i</a:t>
                      </a:r>
                      <a:endParaRPr lang="en-US" sz="1200" dirty="0">
                        <a:latin typeface="JetBrains Mono" charset="0"/>
                        <a:ea typeface="JetBrains Mono" charset="0"/>
                        <a:cs typeface="JetBrains Mono"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int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for:i:10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680"/>
                        </a:lnSpc>
                        <a:buNone/>
                      </a:pPr>
                      <a:r>
                        <a:rPr lang="en-US" sz="1200" dirty="0">
                          <a:solidFill>
                            <a:srgbClr val="161A21"/>
                          </a:solidFill>
                          <a:latin typeface="JetBrains Mono" pitchFamily="49" charset="0"/>
                          <a:ea typeface="JetBrains Mono" pitchFamily="49" charset="-122"/>
                          <a:cs typeface="JetBrains Mono" pitchFamily="49" charset="-120"/>
                        </a:rPr>
                        <a:t>loop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 7"/>
          <p:cNvSpPr/>
          <p:nvPr/>
        </p:nvSpPr>
        <p:spPr>
          <a:xfrm>
            <a:off x="6807245" y="1671197"/>
            <a:ext cx="4709112" cy="2691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A21"/>
                </a:solidFill>
                <a:latin typeface="IBM Plex Sans" pitchFamily="34" charset="0"/>
                <a:ea typeface="IBM Plex Sans" pitchFamily="34" charset="-122"/>
                <a:cs typeface="IBM Plex Sans" pitchFamily="34" charset="-120"/>
              </a:rPr>
              <a:t>Checks before any code runs</a:t>
            </a:r>
            <a:endParaRPr lang="en-US" sz="1600" dirty="0"/>
          </a:p>
        </p:txBody>
      </p:sp>
      <p:sp>
        <p:nvSpPr>
          <p:cNvPr id="11" name="Text 8"/>
          <p:cNvSpPr/>
          <p:nvPr/>
        </p:nvSpPr>
        <p:spPr>
          <a:xfrm>
            <a:off x="6892589" y="2041897"/>
            <a:ext cx="4616148" cy="1412268"/>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E5562"/>
                </a:solidFill>
                <a:latin typeface="IBM Plex Sans" pitchFamily="34" charset="0"/>
                <a:ea typeface="IBM Plex Sans" pitchFamily="34" charset="-122"/>
                <a:cs typeface="IBM Plex Sans" pitchFamily="34" charset="-120"/>
              </a:rPr>
              <a:t>Every name is declared before use</a:t>
            </a:r>
            <a:endParaRPr lang="en-US" sz="1300" dirty="0"/>
          </a:p>
          <a:p>
            <a:pPr marL="168656" indent="-168656" algn="l">
              <a:lnSpc>
                <a:spcPts val="1820"/>
              </a:lnSpc>
              <a:buSzPct val="100000"/>
              <a:buChar char="•"/>
            </a:pPr>
            <a:r>
              <a:rPr lang="en-US" sz="1300" dirty="0">
                <a:solidFill>
                  <a:srgbClr val="4E5562"/>
                </a:solidFill>
                <a:latin typeface="IBM Plex Sans" pitchFamily="34" charset="0"/>
                <a:ea typeface="IBM Plex Sans" pitchFamily="34" charset="-122"/>
                <a:cs typeface="IBM Plex Sans" pitchFamily="34" charset="-120"/>
              </a:rPr>
              <a:t>No second let for a name in one scope</a:t>
            </a:r>
            <a:endParaRPr lang="en-US" sz="1300" dirty="0"/>
          </a:p>
          <a:p>
            <a:pPr marL="168656" indent="-168656" algn="l">
              <a:lnSpc>
                <a:spcPts val="1820"/>
              </a:lnSpc>
              <a:buSzPct val="100000"/>
              <a:buChar char="•"/>
            </a:pPr>
            <a:r>
              <a:rPr lang="en-US" sz="1300" dirty="0">
                <a:solidFill>
                  <a:srgbClr val="4E5562"/>
                </a:solidFill>
                <a:latin typeface="IBM Plex Sans" pitchFamily="34" charset="0"/>
                <a:ea typeface="IBM Plex Sans" pitchFamily="34" charset="-122"/>
                <a:cs typeface="IBM Plex Sans" pitchFamily="34" charset="-120"/>
              </a:rPr>
              <a:t>Types agree: int and float mix, "a" + 1 does not</a:t>
            </a:r>
            <a:endParaRPr lang="en-US" sz="1300" dirty="0"/>
          </a:p>
          <a:p>
            <a:pPr marL="168656" indent="-168656" algn="l">
              <a:lnSpc>
                <a:spcPts val="1820"/>
              </a:lnSpc>
              <a:buSzPct val="100000"/>
              <a:buChar char="•"/>
            </a:pPr>
            <a:r>
              <a:rPr lang="en-US" sz="1300" dirty="0">
                <a:solidFill>
                  <a:srgbClr val="4E5562"/>
                </a:solidFill>
                <a:latin typeface="IBM Plex Sans" pitchFamily="34" charset="0"/>
                <a:ea typeface="IBM Plex Sans" pitchFamily="34" charset="-122"/>
                <a:cs typeface="IBM Plex Sans" pitchFamily="34" charset="-120"/>
              </a:rPr>
              <a:t>if and while conditions are bool</a:t>
            </a:r>
            <a:endParaRPr lang="en-US" sz="1300" dirty="0"/>
          </a:p>
          <a:p>
            <a:pPr marL="168656" indent="-168656" algn="l">
              <a:lnSpc>
                <a:spcPts val="1820"/>
              </a:lnSpc>
              <a:buSzPct val="100000"/>
              <a:buChar char="•"/>
            </a:pPr>
            <a:r>
              <a:rPr lang="en-US" sz="1300" dirty="0">
                <a:solidFill>
                  <a:srgbClr val="4E5562"/>
                </a:solidFill>
                <a:latin typeface="IBM Plex Sans" pitchFamily="34" charset="0"/>
                <a:ea typeface="IBM Plex Sans" pitchFamily="34" charset="-122"/>
                <a:cs typeface="IBM Plex Sans" pitchFamily="34" charset="-120"/>
              </a:rPr>
              <a:t>Calls match parameter count and types</a:t>
            </a:r>
            <a:endParaRPr lang="en-US" sz="1300" dirty="0"/>
          </a:p>
          <a:p>
            <a:pPr marL="168656" indent="-168656" algn="l">
              <a:lnSpc>
                <a:spcPts val="1820"/>
              </a:lnSpc>
              <a:buSzPct val="100000"/>
              <a:buChar char="•"/>
            </a:pPr>
            <a:r>
              <a:rPr lang="en-US" sz="1300" dirty="0">
                <a:solidFill>
                  <a:srgbClr val="4E5562"/>
                </a:solidFill>
                <a:latin typeface="IBM Plex Sans" pitchFamily="34" charset="0"/>
                <a:ea typeface="IBM Plex Sans" pitchFamily="34" charset="-122"/>
                <a:cs typeface="IBM Plex Sans" pitchFamily="34" charset="-120"/>
              </a:rPr>
              <a:t>return matches the function's type</a:t>
            </a:r>
            <a:endParaRPr lang="en-US" sz="1300" dirty="0"/>
          </a:p>
        </p:txBody>
      </p:sp>
      <p:sp>
        <p:nvSpPr>
          <p:cNvPr id="12" name="Shape 9"/>
          <p:cNvSpPr/>
          <p:nvPr/>
        </p:nvSpPr>
        <p:spPr>
          <a:xfrm>
            <a:off x="6807245" y="3555713"/>
            <a:ext cx="4571953" cy="819078"/>
          </a:xfrm>
          <a:prstGeom prst="roundRect">
            <a:avLst>
              <a:gd name="adj" fmla="val 9303"/>
            </a:avLst>
          </a:prstGeom>
          <a:solidFill>
            <a:srgbClr val="16191F"/>
          </a:solidFill>
          <a:ln/>
        </p:spPr>
      </p:sp>
      <p:pic>
        <p:nvPicPr>
          <p:cNvPr id="13" name="Image 0" descr="Errors tab showing: Semantic error, Undeclared identifier: y, line 2, column 14"/>
          <p:cNvPicPr>
            <a:picLocks noChangeAspect="1"/>
          </p:cNvPicPr>
          <p:nvPr/>
        </p:nvPicPr>
        <p:blipFill>
          <a:blip r:embed="rId3"/>
          <a:srcRect t="-81" b="-81"/>
          <a:stretch/>
        </p:blipFill>
        <p:spPr>
          <a:xfrm>
            <a:off x="6807245" y="3555713"/>
            <a:ext cx="4571953" cy="819078"/>
          </a:xfrm>
          <a:prstGeom prst="roundRect">
            <a:avLst>
              <a:gd name="adj" fmla="val 9303"/>
            </a:avLst>
          </a:prstGeom>
        </p:spPr>
      </p:pic>
      <p:sp>
        <p:nvSpPr>
          <p:cNvPr id="14" name="Text 10"/>
          <p:cNvSpPr/>
          <p:nvPr/>
        </p:nvSpPr>
        <p:spPr>
          <a:xfrm>
            <a:off x="6807245" y="4501741"/>
            <a:ext cx="47091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F78"/>
                </a:solidFill>
                <a:latin typeface="IBM Plex Sans" pitchFamily="34" charset="0"/>
                <a:ea typeface="IBM Plex Sans" pitchFamily="34" charset="-122"/>
                <a:cs typeface="IBM Plex Sans" pitchFamily="34" charset="-120"/>
              </a:rPr>
              <a:t>One failed check blocks execution.</a:t>
            </a:r>
            <a:endParaRPr lang="en-US" sz="1200" dirty="0"/>
          </a:p>
        </p:txBody>
      </p:sp>
      <p:sp>
        <p:nvSpPr>
          <p:cNvPr id="15" name="Text 11"/>
          <p:cNvSpPr/>
          <p:nvPr/>
        </p:nvSpPr>
        <p:spPr>
          <a:xfrm>
            <a:off x="812774" y="6238295"/>
            <a:ext cx="7194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F78"/>
                </a:solidFill>
                <a:latin typeface="IBM Plex Sans" pitchFamily="34" charset="0"/>
                <a:ea typeface="IBM Plex Sans" pitchFamily="34" charset="-122"/>
                <a:cs typeface="IBM Plex Sans" pitchFamily="34" charset="-120"/>
              </a:rPr>
              <a:t>PiGPL · BCSE307L Compiler Design</a:t>
            </a:r>
            <a:endParaRPr lang="en-US" sz="1200" dirty="0"/>
          </a:p>
        </p:txBody>
      </p:sp>
      <p:sp>
        <p:nvSpPr>
          <p:cNvPr id="16" name="Text 12"/>
          <p:cNvSpPr/>
          <p:nvPr/>
        </p:nvSpPr>
        <p:spPr>
          <a:xfrm>
            <a:off x="10058408" y="6238295"/>
            <a:ext cx="132079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F78"/>
                </a:solidFill>
                <a:latin typeface="JetBrains Mono" pitchFamily="49" charset="0"/>
                <a:ea typeface="JetBrains Mono" pitchFamily="49" charset="-122"/>
                <a:cs typeface="JetBrains Mono" pitchFamily="49" charset="-120"/>
              </a:rPr>
              <a:t>04 / 07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812774" y="660394"/>
            <a:ext cx="10883418"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2A541"/>
                </a:solidFill>
                <a:latin typeface="JetBrains Mono" pitchFamily="49" charset="0"/>
                <a:ea typeface="JetBrains Mono" pitchFamily="49" charset="-122"/>
                <a:cs typeface="JetBrains Mono" pitchFamily="49" charset="-120"/>
              </a:rPr>
              <a:t>BACK END</a:t>
            </a:r>
            <a:endParaRPr lang="en-US" sz="1200" dirty="0"/>
          </a:p>
        </p:txBody>
      </p:sp>
      <p:sp>
        <p:nvSpPr>
          <p:cNvPr id="3" name="Text 1"/>
          <p:cNvSpPr>
            <a:spLocks noGrp="1"/>
          </p:cNvSpPr>
          <p:nvPr>
            <p:ph type="title"/>
          </p:nvPr>
        </p:nvSpPr>
        <p:spPr>
          <a:xfrm>
            <a:off x="812774" y="975299"/>
            <a:ext cx="10883418"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EEF0F3"/>
                </a:solidFill>
                <a:latin typeface="IBM Plex Sans" pitchFamily="34" charset="0"/>
                <a:ea typeface="IBM Plex Sans" pitchFamily="34" charset="-122"/>
                <a:cs typeface="IBM Plex Sans" pitchFamily="34" charset="-120"/>
              </a:rPr>
              <a:t>Three-address code, then optimization</a:t>
            </a:r>
            <a:endParaRPr lang="en-US" sz="3200" dirty="0"/>
          </a:p>
        </p:txBody>
      </p:sp>
      <p:sp>
        <p:nvSpPr>
          <p:cNvPr id="4" name="Text 2"/>
          <p:cNvSpPr/>
          <p:nvPr/>
        </p:nvSpPr>
        <p:spPr>
          <a:xfrm>
            <a:off x="812774" y="1544250"/>
            <a:ext cx="10883418"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1BD"/>
                </a:solidFill>
                <a:latin typeface="IBM Plex Sans" pitchFamily="34" charset="0"/>
                <a:ea typeface="IBM Plex Sans" pitchFamily="34" charset="-122"/>
                <a:cs typeface="IBM Plex Sans" pitchFamily="34" charset="-120"/>
              </a:rPr>
              <a:t>The AST is flattened into quadruples (result, op, arg1, arg2). if, while and for become labels, ifFalse and goto.</a:t>
            </a:r>
            <a:endParaRPr lang="en-US" sz="1400" dirty="0"/>
          </a:p>
        </p:txBody>
      </p:sp>
      <p:sp>
        <p:nvSpPr>
          <p:cNvPr id="5" name="Shape 3"/>
          <p:cNvSpPr/>
          <p:nvPr/>
        </p:nvSpPr>
        <p:spPr>
          <a:xfrm>
            <a:off x="812774" y="1996322"/>
            <a:ext cx="4825995" cy="1793508"/>
          </a:xfrm>
          <a:prstGeom prst="roundRect">
            <a:avLst>
              <a:gd name="adj" fmla="val 4249"/>
            </a:avLst>
          </a:prstGeom>
          <a:solidFill>
            <a:srgbClr val="1B1F27"/>
          </a:solidFill>
          <a:ln/>
        </p:spPr>
      </p:sp>
      <p:sp>
        <p:nvSpPr>
          <p:cNvPr id="6" name="Shape 4"/>
          <p:cNvSpPr/>
          <p:nvPr/>
        </p:nvSpPr>
        <p:spPr>
          <a:xfrm>
            <a:off x="812774" y="1996322"/>
            <a:ext cx="4825995" cy="1793508"/>
          </a:xfrm>
          <a:custGeom>
            <a:avLst/>
            <a:gdLst/>
            <a:ahLst/>
            <a:cxnLst/>
            <a:rect l="l" t="t" r="r" b="b"/>
            <a:pathLst>
              <a:path w="4825995" h="1793508">
                <a:moveTo>
                  <a:pt x="4749795" y="0"/>
                </a:moveTo>
                <a:lnTo>
                  <a:pt x="4749795" y="0"/>
                </a:lnTo>
                <a:arcTo wR="76200" hR="76200" stAng="16200000" swAng="5400000"/>
                <a:lnTo>
                  <a:pt x="4825995" y="1717308"/>
                </a:lnTo>
                <a:arcTo wR="76200" hR="76200" stAng="0" swAng="5400000"/>
                <a:lnTo>
                  <a:pt x="76200" y="1793508"/>
                </a:lnTo>
                <a:arcTo wR="76200" hR="76200" stAng="5400000" swAng="5400000"/>
                <a:lnTo>
                  <a:pt x="0" y="1717308"/>
                </a:lnTo>
                <a:arcTo wR="76200" hR="69850" stAng="10800000" swAng="-5400000"/>
                <a:lnTo>
                  <a:pt x="4749795" y="1787158"/>
                </a:lnTo>
                <a:arcTo wR="69850" hR="69850" stAng="5400000" swAng="-5400000"/>
                <a:lnTo>
                  <a:pt x="4819645" y="76200"/>
                </a:lnTo>
                <a:arcTo wR="69850" hR="76200" stAng="0" swAng="-5400000"/>
                <a:close/>
              </a:path>
            </a:pathLst>
          </a:custGeom>
          <a:solidFill>
            <a:srgbClr val="2A303B"/>
          </a:solidFill>
          <a:ln/>
        </p:spPr>
      </p:sp>
      <p:sp>
        <p:nvSpPr>
          <p:cNvPr id="7" name="Shape 5"/>
          <p:cNvSpPr/>
          <p:nvPr/>
        </p:nvSpPr>
        <p:spPr>
          <a:xfrm>
            <a:off x="812774" y="1996322"/>
            <a:ext cx="4825995" cy="1793508"/>
          </a:xfrm>
          <a:custGeom>
            <a:avLst/>
            <a:gdLst/>
            <a:ahLst/>
            <a:cxnLst/>
            <a:rect l="l" t="t" r="r" b="b"/>
            <a:pathLst>
              <a:path w="4825995" h="1793508">
                <a:moveTo>
                  <a:pt x="76200" y="1793508"/>
                </a:moveTo>
                <a:lnTo>
                  <a:pt x="76200" y="1793508"/>
                </a:lnTo>
                <a:arcTo wR="76200" hR="76200" stAng="5400000" swAng="5400000"/>
                <a:lnTo>
                  <a:pt x="0" y="76200"/>
                </a:lnTo>
                <a:arcTo wR="76200" hR="76200" stAng="10800000" swAng="5400000"/>
                <a:lnTo>
                  <a:pt x="4749795" y="0"/>
                </a:lnTo>
                <a:arcTo wR="76200" hR="76200" stAng="16200000" swAng="5400000"/>
                <a:lnTo>
                  <a:pt x="4825995" y="76200"/>
                </a:lnTo>
                <a:arcTo wR="76200" hR="66925" stAng="0" swAng="-5400000"/>
                <a:lnTo>
                  <a:pt x="76200" y="9275"/>
                </a:lnTo>
                <a:arcTo wR="66925" hR="66925" stAng="16200000" swAng="-5400000"/>
                <a:lnTo>
                  <a:pt x="9275" y="1717308"/>
                </a:lnTo>
                <a:arcTo wR="66925" hR="76200" stAng="10800000" swAng="-5400000"/>
                <a:close/>
              </a:path>
            </a:pathLst>
          </a:custGeom>
          <a:solidFill>
            <a:srgbClr val="FAF9F5">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049" y="2005596"/>
          <a:ext cx="4812084" cy="1779595"/>
        </p:xfrm>
        <a:graphic>
          <a:graphicData uri="http://schemas.openxmlformats.org/drawingml/2006/table">
            <a:tbl>
              <a:tblPr/>
              <a:tblGrid>
                <a:gridCol w="1251142">
                  <a:extLst>
                    <a:ext uri="{9D8B030D-6E8A-4147-A177-3AD203B41FA5}">
                      <a16:colId xmlns:a16="http://schemas.microsoft.com/office/drawing/2014/main" val="20000"/>
                    </a:ext>
                  </a:extLst>
                </a:gridCol>
                <a:gridCol w="2021075">
                  <a:extLst>
                    <a:ext uri="{9D8B030D-6E8A-4147-A177-3AD203B41FA5}">
                      <a16:colId xmlns:a16="http://schemas.microsoft.com/office/drawing/2014/main" val="20001"/>
                    </a:ext>
                  </a:extLst>
                </a:gridCol>
                <a:gridCol w="1539867">
                  <a:extLst>
                    <a:ext uri="{9D8B030D-6E8A-4147-A177-3AD203B41FA5}">
                      <a16:colId xmlns:a16="http://schemas.microsoft.com/office/drawing/2014/main" val="20002"/>
                    </a:ext>
                  </a:extLst>
                </a:gridCol>
              </a:tblGrid>
              <a:tr h="355919">
                <a:tc>
                  <a:txBody>
                    <a:bodyPr/>
                    <a:lstStyle/>
                    <a:p>
                      <a:pPr marL="0" indent="0">
                        <a:lnSpc>
                          <a:spcPts val="1820"/>
                        </a:lnSpc>
                        <a:buNone/>
                      </a:pPr>
                      <a:r>
                        <a:rPr lang="en-US" sz="1300" b="1" dirty="0">
                          <a:solidFill>
                            <a:srgbClr val="EEF0F3"/>
                          </a:solidFill>
                          <a:latin typeface="IBM Plex Sans" pitchFamily="34" charset="0"/>
                          <a:ea typeface="IBM Plex Sans" pitchFamily="34" charset="-122"/>
                          <a:cs typeface="IBM Plex Sans" pitchFamily="34" charset="-120"/>
                        </a:rPr>
                        <a:t>Pass</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52565E"/>
                      </a:solidFill>
                      <a:prstDash val="solid"/>
                      <a:round/>
                      <a:headEnd type="none" w="med" len="med"/>
                      <a:tailEnd type="none" w="med" len="med"/>
                    </a:lnR>
                    <a:lnT w="0" cap="flat" cmpd="sng" algn="ctr">
                      <a:noFill/>
                    </a:lnT>
                    <a:lnB w="12700" cap="flat" cmpd="sng" algn="ctr">
                      <a:solidFill>
                        <a:srgbClr val="52565E"/>
                      </a:solidFill>
                      <a:prstDash val="solid"/>
                      <a:round/>
                      <a:headEnd type="none" w="med" len="med"/>
                      <a:tailEnd type="none" w="med" len="med"/>
                    </a:lnB>
                    <a:solidFill>
                      <a:srgbClr val="232833"/>
                    </a:solidFill>
                  </a:tcPr>
                </a:tc>
                <a:tc>
                  <a:txBody>
                    <a:bodyPr/>
                    <a:lstStyle/>
                    <a:p>
                      <a:pPr marL="0" indent="0">
                        <a:lnSpc>
                          <a:spcPts val="1820"/>
                        </a:lnSpc>
                        <a:buNone/>
                      </a:pPr>
                      <a:r>
                        <a:rPr lang="en-US" sz="1300" b="1" dirty="0">
                          <a:solidFill>
                            <a:srgbClr val="EEF0F3"/>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65E"/>
                      </a:solidFill>
                      <a:prstDash val="solid"/>
                      <a:round/>
                      <a:headEnd type="none" w="med" len="med"/>
                      <a:tailEnd type="none" w="med" len="med"/>
                    </a:lnL>
                    <a:lnR w="12700" cap="flat" cmpd="sng" algn="ctr">
                      <a:solidFill>
                        <a:srgbClr val="52565E"/>
                      </a:solidFill>
                      <a:prstDash val="solid"/>
                      <a:round/>
                      <a:headEnd type="none" w="med" len="med"/>
                      <a:tailEnd type="none" w="med" len="med"/>
                    </a:lnR>
                    <a:lnT w="0" cap="flat" cmpd="sng" algn="ctr">
                      <a:noFill/>
                    </a:lnT>
                    <a:lnB w="12700" cap="flat" cmpd="sng" algn="ctr">
                      <a:solidFill>
                        <a:srgbClr val="52565E"/>
                      </a:solidFill>
                      <a:prstDash val="solid"/>
                      <a:round/>
                      <a:headEnd type="none" w="med" len="med"/>
                      <a:tailEnd type="none" w="med" len="med"/>
                    </a:lnB>
                    <a:solidFill>
                      <a:srgbClr val="232833"/>
                    </a:solidFill>
                  </a:tcPr>
                </a:tc>
                <a:tc>
                  <a:txBody>
                    <a:bodyPr/>
                    <a:lstStyle/>
                    <a:p>
                      <a:pPr marL="0" indent="0">
                        <a:lnSpc>
                          <a:spcPts val="1820"/>
                        </a:lnSpc>
                        <a:buNone/>
                      </a:pPr>
                      <a:r>
                        <a:rPr lang="en-US" sz="1300" b="1" dirty="0">
                          <a:solidFill>
                            <a:srgbClr val="EEF0F3"/>
                          </a:solidFill>
                          <a:latin typeface="IBM Plex Sans" pitchFamily="34" charset="0"/>
                          <a:ea typeface="IBM Plex Sans" pitchFamily="34" charset="-122"/>
                          <a:cs typeface="IBM Plex Sans" pitchFamily="34" charset="-120"/>
                        </a:rPr>
                        <a:t>Example</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65E"/>
                      </a:solidFill>
                      <a:prstDash val="solid"/>
                      <a:round/>
                      <a:headEnd type="none" w="med" len="med"/>
                      <a:tailEnd type="none" w="med" len="med"/>
                    </a:lnL>
                    <a:lnR w="12700" cap="flat" cmpd="sng" algn="ctr">
                      <a:solidFill>
                        <a:srgbClr val="52565E"/>
                      </a:solidFill>
                      <a:prstDash val="solid"/>
                      <a:round/>
                      <a:headEnd type="none" w="med" len="med"/>
                      <a:tailEnd type="none" w="med" len="med"/>
                    </a:lnR>
                    <a:lnT w="0" cap="flat" cmpd="sng" algn="ctr">
                      <a:noFill/>
                    </a:lnT>
                    <a:lnB w="12700" cap="flat" cmpd="sng" algn="ctr">
                      <a:solidFill>
                        <a:srgbClr val="52565E"/>
                      </a:solidFill>
                      <a:prstDash val="solid"/>
                      <a:round/>
                      <a:headEnd type="none" w="med" len="med"/>
                      <a:tailEnd type="none" w="med" len="med"/>
                    </a:lnB>
                    <a:solidFill>
                      <a:srgbClr val="232833"/>
                    </a:solidFill>
                  </a:tcPr>
                </a:tc>
                <a:extLst>
                  <a:ext uri="{0D108BD9-81ED-4DB2-BD59-A6C34878D82A}">
                    <a16:rowId xmlns:a16="http://schemas.microsoft.com/office/drawing/2014/main" val="10000"/>
                  </a:ext>
                </a:extLst>
              </a:tr>
              <a:tr h="355919">
                <a:tc>
                  <a:txBody>
                    <a:bodyPr/>
                    <a:lstStyle/>
                    <a:p>
                      <a:pPr marL="0" indent="0">
                        <a:lnSpc>
                          <a:spcPts val="1820"/>
                        </a:lnSpc>
                        <a:buNone/>
                      </a:pPr>
                      <a:r>
                        <a:rPr lang="en-US" sz="1300" dirty="0">
                          <a:solidFill>
                            <a:srgbClr val="F2A541"/>
                          </a:solidFill>
                          <a:latin typeface="IBM Plex Sans" pitchFamily="34" charset="0"/>
                          <a:ea typeface="IBM Plex Sans" pitchFamily="34" charset="-122"/>
                          <a:cs typeface="IBM Plex Sans" pitchFamily="34" charset="-120"/>
                        </a:rPr>
                        <a:t>fold</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4C4F54"/>
                      </a:solidFill>
                      <a:prstDash val="solid"/>
                      <a:round/>
                      <a:headEnd type="none" w="med" len="med"/>
                      <a:tailEnd type="none" w="med" len="med"/>
                    </a:lnR>
                    <a:lnT w="12700" cap="flat" cmpd="sng" algn="ctr">
                      <a:solidFill>
                        <a:srgbClr val="52565E"/>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tc>
                  <a:txBody>
                    <a:bodyPr/>
                    <a:lstStyle/>
                    <a:p>
                      <a:pPr marL="0" indent="0">
                        <a:lnSpc>
                          <a:spcPts val="1820"/>
                        </a:lnSpc>
                        <a:buNone/>
                      </a:pPr>
                      <a:r>
                        <a:rPr lang="en-US" sz="1300" dirty="0">
                          <a:solidFill>
                            <a:srgbClr val="C4CAD3"/>
                          </a:solidFill>
                          <a:latin typeface="IBM Plex Sans" pitchFamily="34" charset="0"/>
                          <a:ea typeface="IBM Plex Sans" pitchFamily="34" charset="-122"/>
                          <a:cs typeface="IBM Plex Sans" pitchFamily="34" charset="-120"/>
                        </a:rPr>
                        <a:t>Do constant math now</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52565E"/>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tc>
                  <a:txBody>
                    <a:bodyPr/>
                    <a:lstStyle/>
                    <a:p>
                      <a:pPr marL="0" indent="0">
                        <a:lnSpc>
                          <a:spcPts val="1820"/>
                        </a:lnSpc>
                        <a:buNone/>
                      </a:pPr>
                      <a:r>
                        <a:rPr lang="en-US" sz="1300" dirty="0">
                          <a:solidFill>
                            <a:srgbClr val="C4CAD3"/>
                          </a:solidFill>
                          <a:latin typeface="IBM Plex Sans" pitchFamily="34" charset="0"/>
                          <a:ea typeface="IBM Plex Sans" pitchFamily="34" charset="-122"/>
                          <a:cs typeface="IBM Plex Sans" pitchFamily="34" charset="-120"/>
                        </a:rPr>
                        <a:t>3 * 4 → 12</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52565E"/>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extLst>
                  <a:ext uri="{0D108BD9-81ED-4DB2-BD59-A6C34878D82A}">
                    <a16:rowId xmlns:a16="http://schemas.microsoft.com/office/drawing/2014/main" val="10001"/>
                  </a:ext>
                </a:extLst>
              </a:tr>
              <a:tr h="355919">
                <a:tc>
                  <a:txBody>
                    <a:bodyPr/>
                    <a:lstStyle/>
                    <a:p>
                      <a:pPr marL="0" indent="0">
                        <a:lnSpc>
                          <a:spcPts val="1820"/>
                        </a:lnSpc>
                        <a:buNone/>
                      </a:pPr>
                      <a:r>
                        <a:rPr lang="en-US" sz="1300" dirty="0">
                          <a:solidFill>
                            <a:srgbClr val="F2A541"/>
                          </a:solidFill>
                          <a:latin typeface="IBM Plex Sans" pitchFamily="34" charset="0"/>
                          <a:ea typeface="IBM Plex Sans" pitchFamily="34" charset="-122"/>
                          <a:cs typeface="IBM Plex Sans" pitchFamily="34" charset="-120"/>
                        </a:rPr>
                        <a:t>propagate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4C4F54"/>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tc>
                  <a:txBody>
                    <a:bodyPr/>
                    <a:lstStyle/>
                    <a:p>
                      <a:pPr marL="0" indent="0">
                        <a:lnSpc>
                          <a:spcPts val="1820"/>
                        </a:lnSpc>
                        <a:buNone/>
                      </a:pPr>
                      <a:r>
                        <a:rPr lang="en-US" sz="1300" dirty="0">
                          <a:solidFill>
                            <a:srgbClr val="C4CAD3"/>
                          </a:solidFill>
                          <a:latin typeface="IBM Plex Sans" pitchFamily="34" charset="0"/>
                          <a:ea typeface="IBM Plex Sans" pitchFamily="34" charset="-122"/>
                          <a:cs typeface="IBM Plex Sans" pitchFamily="34" charset="-120"/>
                        </a:rPr>
                        <a:t>Use a known value</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tc>
                  <a:txBody>
                    <a:bodyPr/>
                    <a:lstStyle/>
                    <a:p>
                      <a:pPr marL="0" indent="0">
                        <a:lnSpc>
                          <a:spcPts val="1820"/>
                        </a:lnSpc>
                        <a:buNone/>
                      </a:pPr>
                      <a:r>
                        <a:rPr lang="en-US" sz="1300" dirty="0">
                          <a:solidFill>
                            <a:srgbClr val="C4CAD3"/>
                          </a:solidFill>
                          <a:latin typeface="IBM Plex Sans" pitchFamily="34" charset="0"/>
                          <a:ea typeface="IBM Plex Sans" pitchFamily="34" charset="-122"/>
                          <a:cs typeface="IBM Plex Sans" pitchFamily="34" charset="-120"/>
                        </a:rPr>
                        <a:t>t3 → 12</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extLst>
                  <a:ext uri="{0D108BD9-81ED-4DB2-BD59-A6C34878D82A}">
                    <a16:rowId xmlns:a16="http://schemas.microsoft.com/office/drawing/2014/main" val="10002"/>
                  </a:ext>
                </a:extLst>
              </a:tr>
              <a:tr h="355919">
                <a:tc>
                  <a:txBody>
                    <a:bodyPr/>
                    <a:lstStyle/>
                    <a:p>
                      <a:pPr marL="0" indent="0">
                        <a:lnSpc>
                          <a:spcPts val="1820"/>
                        </a:lnSpc>
                        <a:buNone/>
                      </a:pPr>
                      <a:r>
                        <a:rPr lang="en-US" sz="1300" dirty="0">
                          <a:solidFill>
                            <a:srgbClr val="F2A541"/>
                          </a:solidFill>
                          <a:latin typeface="IBM Plex Sans" pitchFamily="34" charset="0"/>
                          <a:ea typeface="IBM Plex Sans" pitchFamily="34" charset="-122"/>
                          <a:cs typeface="IBM Plex Sans" pitchFamily="34" charset="-120"/>
                        </a:rPr>
                        <a:t>algebraic</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4C4F54"/>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tc>
                  <a:txBody>
                    <a:bodyPr/>
                    <a:lstStyle/>
                    <a:p>
                      <a:pPr marL="0" indent="0">
                        <a:lnSpc>
                          <a:spcPts val="1820"/>
                        </a:lnSpc>
                        <a:buNone/>
                      </a:pPr>
                      <a:r>
                        <a:rPr lang="en-US" sz="1300" dirty="0">
                          <a:solidFill>
                            <a:srgbClr val="C4CAD3"/>
                          </a:solidFill>
                          <a:latin typeface="IBM Plex Sans" pitchFamily="34" charset="0"/>
                          <a:ea typeface="IBM Plex Sans" pitchFamily="34" charset="-122"/>
                          <a:cs typeface="IBM Plex Sans" pitchFamily="34" charset="-120"/>
                        </a:rPr>
                        <a:t>Drop useless math</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tc>
                  <a:txBody>
                    <a:bodyPr/>
                    <a:lstStyle/>
                    <a:p>
                      <a:pPr marL="0" indent="0">
                        <a:lnSpc>
                          <a:spcPts val="1820"/>
                        </a:lnSpc>
                        <a:buNone/>
                      </a:pPr>
                      <a:r>
                        <a:rPr lang="en-US" sz="1300" dirty="0">
                          <a:solidFill>
                            <a:srgbClr val="C4CAD3"/>
                          </a:solidFill>
                          <a:latin typeface="IBM Plex Sans" pitchFamily="34" charset="0"/>
                          <a:ea typeface="IBM Plex Sans" pitchFamily="34" charset="-122"/>
                          <a:cs typeface="IBM Plex Sans" pitchFamily="34" charset="-120"/>
                        </a:rPr>
                        <a:t>x * 1 → x</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extLst>
                  <a:ext uri="{0D108BD9-81ED-4DB2-BD59-A6C34878D82A}">
                    <a16:rowId xmlns:a16="http://schemas.microsoft.com/office/drawing/2014/main" val="10003"/>
                  </a:ext>
                </a:extLst>
              </a:tr>
              <a:tr h="355919">
                <a:tc>
                  <a:txBody>
                    <a:bodyPr/>
                    <a:lstStyle/>
                    <a:p>
                      <a:pPr marL="0" indent="0">
                        <a:lnSpc>
                          <a:spcPts val="1820"/>
                        </a:lnSpc>
                        <a:buNone/>
                      </a:pPr>
                      <a:r>
                        <a:rPr lang="en-US" sz="1300" dirty="0">
                          <a:solidFill>
                            <a:srgbClr val="F2A541"/>
                          </a:solidFill>
                          <a:latin typeface="IBM Plex Sans" pitchFamily="34" charset="0"/>
                          <a:ea typeface="IBM Plex Sans" pitchFamily="34" charset="-122"/>
                          <a:cs typeface="IBM Plex Sans" pitchFamily="34" charset="-120"/>
                        </a:rPr>
                        <a:t>dce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4C4F54"/>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tc>
                  <a:txBody>
                    <a:bodyPr/>
                    <a:lstStyle/>
                    <a:p>
                      <a:pPr marL="0" indent="0">
                        <a:lnSpc>
                          <a:spcPts val="1820"/>
                        </a:lnSpc>
                        <a:buNone/>
                      </a:pPr>
                      <a:r>
                        <a:rPr lang="en-US" sz="1300" dirty="0">
                          <a:solidFill>
                            <a:srgbClr val="C4CAD3"/>
                          </a:solidFill>
                          <a:latin typeface="IBM Plex Sans" pitchFamily="34" charset="0"/>
                          <a:ea typeface="IBM Plex Sans" pitchFamily="34" charset="-122"/>
                          <a:cs typeface="IBM Plex Sans" pitchFamily="34" charset="-120"/>
                        </a:rPr>
                        <a:t>Delete unused temps</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tc>
                  <a:txBody>
                    <a:bodyPr/>
                    <a:lstStyle/>
                    <a:p>
                      <a:pPr marL="0" indent="0">
                        <a:lnSpc>
                          <a:spcPts val="1820"/>
                        </a:lnSpc>
                        <a:buNone/>
                      </a:pPr>
                      <a:r>
                        <a:rPr lang="en-US" sz="1300" dirty="0">
                          <a:solidFill>
                            <a:srgbClr val="C4CAD3"/>
                          </a:solidFill>
                          <a:latin typeface="IBM Plex Sans" pitchFamily="34" charset="0"/>
                          <a:ea typeface="IBM Plex Sans" pitchFamily="34" charset="-122"/>
                          <a:cs typeface="IBM Plex Sans" pitchFamily="34" charset="-120"/>
                        </a:rPr>
                        <a:t>t0 = 2 → ∅</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C4F5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Shape 9"/>
          <p:cNvSpPr/>
          <p:nvPr/>
        </p:nvSpPr>
        <p:spPr>
          <a:xfrm>
            <a:off x="5892739" y="1996322"/>
            <a:ext cx="5486388" cy="3555932"/>
          </a:xfrm>
          <a:prstGeom prst="roundRect">
            <a:avLst>
              <a:gd name="adj" fmla="val 2857"/>
            </a:avLst>
          </a:prstGeom>
          <a:solidFill>
            <a:srgbClr val="16191F"/>
          </a:solidFill>
          <a:ln/>
        </p:spPr>
      </p:sp>
      <p:pic>
        <p:nvPicPr>
          <p:cNvPr id="13" name="Image 0" descr="Optimize tab for the Constant-fold sample: 14 TAC instructions before, 5 after, with a list of propagate, fold and dce steps"/>
          <p:cNvPicPr>
            <a:picLocks noChangeAspect="1"/>
          </p:cNvPicPr>
          <p:nvPr/>
        </p:nvPicPr>
        <p:blipFill>
          <a:blip r:embed="rId3"/>
          <a:srcRect t="-76" b="-76"/>
          <a:stretch/>
        </p:blipFill>
        <p:spPr>
          <a:xfrm>
            <a:off x="5899089" y="2002672"/>
            <a:ext cx="5473688" cy="3543232"/>
          </a:xfrm>
          <a:prstGeom prst="roundRect">
            <a:avLst>
              <a:gd name="adj" fmla="val 2688"/>
            </a:avLst>
          </a:prstGeom>
        </p:spPr>
      </p:pic>
      <p:sp>
        <p:nvSpPr>
          <p:cNvPr id="14" name="Shape 10"/>
          <p:cNvSpPr/>
          <p:nvPr/>
        </p:nvSpPr>
        <p:spPr>
          <a:xfrm>
            <a:off x="5895914" y="1999497"/>
            <a:ext cx="5480038" cy="3549582"/>
          </a:xfrm>
          <a:prstGeom prst="roundRect">
            <a:avLst>
              <a:gd name="adj" fmla="val 2773"/>
            </a:avLst>
          </a:prstGeom>
          <a:noFill/>
          <a:ln w="6350">
            <a:solidFill>
              <a:srgbClr val="2A303B"/>
            </a:solidFill>
            <a:prstDash val="solid"/>
          </a:ln>
        </p:spPr>
      </p:sp>
      <p:sp>
        <p:nvSpPr>
          <p:cNvPr id="15" name="Text 11"/>
          <p:cNvSpPr/>
          <p:nvPr/>
        </p:nvSpPr>
        <p:spPr>
          <a:xfrm>
            <a:off x="812774" y="6238295"/>
            <a:ext cx="7194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IBM Plex Sans" pitchFamily="34" charset="0"/>
                <a:ea typeface="IBM Plex Sans" pitchFamily="34" charset="-122"/>
                <a:cs typeface="IBM Plex Sans" pitchFamily="34" charset="-120"/>
              </a:rPr>
              <a:t>PiGPL · BCSE307L Compiler Design</a:t>
            </a:r>
            <a:endParaRPr lang="en-US" sz="1200" dirty="0"/>
          </a:p>
        </p:txBody>
      </p:sp>
      <p:sp>
        <p:nvSpPr>
          <p:cNvPr id="16" name="Text 12"/>
          <p:cNvSpPr/>
          <p:nvPr/>
        </p:nvSpPr>
        <p:spPr>
          <a:xfrm>
            <a:off x="10058408" y="6238295"/>
            <a:ext cx="132079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93A0"/>
                </a:solidFill>
                <a:latin typeface="JetBrains Mono" pitchFamily="49" charset="0"/>
                <a:ea typeface="JetBrains Mono" pitchFamily="49" charset="-122"/>
                <a:cs typeface="JetBrains Mono" pitchFamily="49" charset="-120"/>
              </a:rPr>
              <a:t>05 / 07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A541"/>
        </a:solidFill>
        <a:effectLst/>
      </p:bgPr>
    </p:bg>
    <p:spTree>
      <p:nvGrpSpPr>
        <p:cNvPr id="1" name=""/>
        <p:cNvGrpSpPr/>
        <p:nvPr/>
      </p:nvGrpSpPr>
      <p:grpSpPr>
        <a:xfrm>
          <a:off x="0" y="0"/>
          <a:ext cx="0" cy="0"/>
          <a:chOff x="0" y="0"/>
          <a:chExt cx="0" cy="0"/>
        </a:xfrm>
      </p:grpSpPr>
      <p:sp>
        <p:nvSpPr>
          <p:cNvPr id="2" name="Text 0"/>
          <p:cNvSpPr/>
          <p:nvPr/>
        </p:nvSpPr>
        <p:spPr>
          <a:xfrm>
            <a:off x="812774" y="660394"/>
            <a:ext cx="10883418"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A3510"/>
                </a:solidFill>
                <a:latin typeface="JetBrains Mono" pitchFamily="49" charset="0"/>
                <a:ea typeface="JetBrains Mono" pitchFamily="49" charset="-122"/>
                <a:cs typeface="JetBrains Mono" pitchFamily="49" charset="-120"/>
              </a:rPr>
              <a:t>RESULTS</a:t>
            </a:r>
            <a:endParaRPr lang="en-US" sz="1200" dirty="0"/>
          </a:p>
        </p:txBody>
      </p:sp>
      <p:sp>
        <p:nvSpPr>
          <p:cNvPr id="3" name="Text 1"/>
          <p:cNvSpPr>
            <a:spLocks noGrp="1"/>
          </p:cNvSpPr>
          <p:nvPr>
            <p:ph type="title"/>
          </p:nvPr>
        </p:nvSpPr>
        <p:spPr>
          <a:xfrm>
            <a:off x="812774" y="975302"/>
            <a:ext cx="10883418"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A1408"/>
                </a:solidFill>
                <a:latin typeface="IBM Plex Sans" pitchFamily="34" charset="0"/>
                <a:ea typeface="IBM Plex Sans" pitchFamily="34" charset="-122"/>
                <a:cs typeface="IBM Plex Sans" pitchFamily="34" charset="-120"/>
              </a:rPr>
              <a:t>Measured on the 10 valid sample programs</a:t>
            </a:r>
            <a:endParaRPr lang="en-US" sz="3200" dirty="0"/>
          </a:p>
        </p:txBody>
      </p:sp>
      <p:sp>
        <p:nvSpPr>
          <p:cNvPr id="4" name="Shape 2"/>
          <p:cNvSpPr/>
          <p:nvPr/>
        </p:nvSpPr>
        <p:spPr>
          <a:xfrm>
            <a:off x="812774" y="2387550"/>
            <a:ext cx="2527302" cy="0"/>
          </a:xfrm>
          <a:prstGeom prst="line">
            <a:avLst/>
          </a:prstGeom>
          <a:noFill/>
          <a:ln w="25400">
            <a:solidFill>
              <a:srgbClr val="1A1408"/>
            </a:solidFill>
            <a:prstDash val="solid"/>
          </a:ln>
        </p:spPr>
      </p:sp>
      <p:sp>
        <p:nvSpPr>
          <p:cNvPr id="5" name="Text 3"/>
          <p:cNvSpPr/>
          <p:nvPr/>
        </p:nvSpPr>
        <p:spPr>
          <a:xfrm>
            <a:off x="812774" y="2550418"/>
            <a:ext cx="2603121" cy="634999"/>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A1408"/>
                </a:solidFill>
                <a:latin typeface="IBM Plex Sans" pitchFamily="34" charset="0"/>
                <a:ea typeface="IBM Plex Sans" pitchFamily="34" charset="-122"/>
                <a:cs typeface="IBM Plex Sans" pitchFamily="34" charset="-120"/>
              </a:rPr>
              <a:t>−20%</a:t>
            </a:r>
            <a:endParaRPr lang="en-US" sz="4800" dirty="0"/>
          </a:p>
        </p:txBody>
      </p:sp>
      <p:sp>
        <p:nvSpPr>
          <p:cNvPr id="6" name="Text 4"/>
          <p:cNvSpPr/>
          <p:nvPr/>
        </p:nvSpPr>
        <p:spPr>
          <a:xfrm>
            <a:off x="812774" y="3236171"/>
            <a:ext cx="2603121"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2A0C"/>
                </a:solidFill>
                <a:latin typeface="IBM Plex Sans" pitchFamily="34" charset="0"/>
                <a:ea typeface="IBM Plex Sans" pitchFamily="34" charset="-122"/>
                <a:cs typeface="IBM Plex Sans" pitchFamily="34" charset="-120"/>
              </a:rPr>
              <a:t>TAC instructions after optimization, 166 → 133 in total</a:t>
            </a:r>
            <a:endParaRPr lang="en-US" sz="1300" dirty="0"/>
          </a:p>
        </p:txBody>
      </p:sp>
      <p:sp>
        <p:nvSpPr>
          <p:cNvPr id="7" name="Shape 5"/>
          <p:cNvSpPr/>
          <p:nvPr/>
        </p:nvSpPr>
        <p:spPr>
          <a:xfrm>
            <a:off x="3492457" y="2387550"/>
            <a:ext cx="2527302" cy="0"/>
          </a:xfrm>
          <a:prstGeom prst="line">
            <a:avLst/>
          </a:prstGeom>
          <a:noFill/>
          <a:ln w="25400">
            <a:solidFill>
              <a:srgbClr val="1A1408"/>
            </a:solidFill>
            <a:prstDash val="solid"/>
          </a:ln>
        </p:spPr>
      </p:sp>
      <p:sp>
        <p:nvSpPr>
          <p:cNvPr id="8" name="Text 6"/>
          <p:cNvSpPr/>
          <p:nvPr/>
        </p:nvSpPr>
        <p:spPr>
          <a:xfrm>
            <a:off x="3492457" y="2550418"/>
            <a:ext cx="2603121" cy="634999"/>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A1408"/>
                </a:solidFill>
                <a:latin typeface="IBM Plex Sans" pitchFamily="34" charset="0"/>
                <a:ea typeface="IBM Plex Sans" pitchFamily="34" charset="-122"/>
                <a:cs typeface="IBM Plex Sans" pitchFamily="34" charset="-120"/>
              </a:rPr>
              <a:t>−64%</a:t>
            </a:r>
            <a:endParaRPr lang="en-US" sz="4800" dirty="0"/>
          </a:p>
        </p:txBody>
      </p:sp>
      <p:sp>
        <p:nvSpPr>
          <p:cNvPr id="9" name="Text 7"/>
          <p:cNvSpPr/>
          <p:nvPr/>
        </p:nvSpPr>
        <p:spPr>
          <a:xfrm>
            <a:off x="3492457" y="3236171"/>
            <a:ext cx="2603121"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2A0C"/>
                </a:solidFill>
                <a:latin typeface="IBM Plex Sans" pitchFamily="34" charset="0"/>
                <a:ea typeface="IBM Plex Sans" pitchFamily="34" charset="-122"/>
                <a:cs typeface="IBM Plex Sans" pitchFamily="34" charset="-120"/>
              </a:rPr>
              <a:t>On the Constant-fold sample, 14 → 5 instructions</a:t>
            </a:r>
            <a:endParaRPr lang="en-US" sz="1300" dirty="0"/>
          </a:p>
        </p:txBody>
      </p:sp>
      <p:sp>
        <p:nvSpPr>
          <p:cNvPr id="10" name="Shape 8"/>
          <p:cNvSpPr/>
          <p:nvPr/>
        </p:nvSpPr>
        <p:spPr>
          <a:xfrm>
            <a:off x="6172141" y="2387550"/>
            <a:ext cx="2527302" cy="0"/>
          </a:xfrm>
          <a:prstGeom prst="line">
            <a:avLst/>
          </a:prstGeom>
          <a:noFill/>
          <a:ln w="25400">
            <a:solidFill>
              <a:srgbClr val="1A1408"/>
            </a:solidFill>
            <a:prstDash val="solid"/>
          </a:ln>
        </p:spPr>
      </p:sp>
      <p:sp>
        <p:nvSpPr>
          <p:cNvPr id="11" name="Text 9"/>
          <p:cNvSpPr/>
          <p:nvPr/>
        </p:nvSpPr>
        <p:spPr>
          <a:xfrm>
            <a:off x="6172141" y="2550418"/>
            <a:ext cx="2603121" cy="634999"/>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A1408"/>
                </a:solidFill>
                <a:latin typeface="IBM Plex Sans" pitchFamily="34" charset="0"/>
                <a:ea typeface="IBM Plex Sans" pitchFamily="34" charset="-122"/>
                <a:cs typeface="IBM Plex Sans" pitchFamily="34" charset="-120"/>
              </a:rPr>
              <a:t>13/13</a:t>
            </a:r>
            <a:endParaRPr lang="en-US" sz="4800" dirty="0"/>
          </a:p>
        </p:txBody>
      </p:sp>
      <p:sp>
        <p:nvSpPr>
          <p:cNvPr id="12" name="Text 10"/>
          <p:cNvSpPr/>
          <p:nvPr/>
        </p:nvSpPr>
        <p:spPr>
          <a:xfrm>
            <a:off x="6172141" y="3236171"/>
            <a:ext cx="2603121"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2A0C"/>
                </a:solidFill>
                <a:latin typeface="IBM Plex Sans" pitchFamily="34" charset="0"/>
                <a:ea typeface="IBM Plex Sans" pitchFamily="34" charset="-122"/>
                <a:cs typeface="IBM Plex Sans" pitchFamily="34" charset="-120"/>
              </a:rPr>
              <a:t>Automated pipeline tests pass, lexer to execute</a:t>
            </a:r>
            <a:endParaRPr lang="en-US" sz="1300" dirty="0"/>
          </a:p>
        </p:txBody>
      </p:sp>
      <p:sp>
        <p:nvSpPr>
          <p:cNvPr id="13" name="Shape 11"/>
          <p:cNvSpPr/>
          <p:nvPr/>
        </p:nvSpPr>
        <p:spPr>
          <a:xfrm>
            <a:off x="8851825" y="2387550"/>
            <a:ext cx="2527374" cy="0"/>
          </a:xfrm>
          <a:prstGeom prst="line">
            <a:avLst/>
          </a:prstGeom>
          <a:noFill/>
          <a:ln w="25400">
            <a:solidFill>
              <a:srgbClr val="1A1408"/>
            </a:solidFill>
            <a:prstDash val="solid"/>
          </a:ln>
        </p:spPr>
      </p:sp>
      <p:sp>
        <p:nvSpPr>
          <p:cNvPr id="14" name="Text 12"/>
          <p:cNvSpPr/>
          <p:nvPr/>
        </p:nvSpPr>
        <p:spPr>
          <a:xfrm>
            <a:off x="8851825" y="2550418"/>
            <a:ext cx="2603196" cy="634999"/>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A1408"/>
                </a:solidFill>
                <a:latin typeface="IBM Plex Sans" pitchFamily="34" charset="0"/>
                <a:ea typeface="IBM Plex Sans" pitchFamily="34" charset="-122"/>
                <a:cs typeface="IBM Plex Sans" pitchFamily="34" charset="-120"/>
              </a:rPr>
              <a:t>120</a:t>
            </a:r>
            <a:endParaRPr lang="en-US" sz="4800" dirty="0"/>
          </a:p>
        </p:txBody>
      </p:sp>
      <p:sp>
        <p:nvSpPr>
          <p:cNvPr id="15" name="Text 13"/>
          <p:cNvSpPr/>
          <p:nvPr/>
        </p:nvSpPr>
        <p:spPr>
          <a:xfrm>
            <a:off x="8851825" y="3236171"/>
            <a:ext cx="2603196"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2A0C"/>
                </a:solidFill>
                <a:latin typeface="IBM Plex Sans" pitchFamily="34" charset="0"/>
                <a:ea typeface="IBM Plex Sans" pitchFamily="34" charset="-122"/>
                <a:cs typeface="IBM Plex Sans" pitchFamily="34" charset="-120"/>
              </a:rPr>
              <a:t>fact(5), computed by real recursive calls</a:t>
            </a:r>
            <a:endParaRPr lang="en-US" sz="1300" dirty="0"/>
          </a:p>
        </p:txBody>
      </p:sp>
      <p:sp>
        <p:nvSpPr>
          <p:cNvPr id="16" name="Shape 14"/>
          <p:cNvSpPr/>
          <p:nvPr/>
        </p:nvSpPr>
        <p:spPr>
          <a:xfrm>
            <a:off x="812774" y="4630648"/>
            <a:ext cx="10566425" cy="1211372"/>
          </a:xfrm>
          <a:prstGeom prst="roundRect">
            <a:avLst>
              <a:gd name="adj" fmla="val 8387"/>
            </a:avLst>
          </a:prstGeom>
          <a:solidFill>
            <a:srgbClr val="12151B"/>
          </a:solidFill>
          <a:ln/>
        </p:spPr>
      </p:sp>
      <p:sp>
        <p:nvSpPr>
          <p:cNvPr id="17" name="Text 15"/>
          <p:cNvSpPr/>
          <p:nvPr/>
        </p:nvSpPr>
        <p:spPr>
          <a:xfrm>
            <a:off x="1066743" y="4859182"/>
            <a:ext cx="5049289" cy="253936"/>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2A541"/>
                </a:solidFill>
                <a:latin typeface="IBM Plex Sans" pitchFamily="34" charset="0"/>
                <a:ea typeface="IBM Plex Sans" pitchFamily="34" charset="-122"/>
                <a:cs typeface="IBM Plex Sans" pitchFamily="34" charset="-120"/>
              </a:rPr>
              <a:t>Execute stage</a:t>
            </a:r>
            <a:endParaRPr lang="en-US" sz="1500" dirty="0"/>
          </a:p>
        </p:txBody>
      </p:sp>
      <p:sp>
        <p:nvSpPr>
          <p:cNvPr id="18" name="Text 16"/>
          <p:cNvSpPr/>
          <p:nvPr/>
        </p:nvSpPr>
        <p:spPr>
          <a:xfrm>
            <a:off x="1066743" y="5151193"/>
            <a:ext cx="5049289"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4CAD3"/>
                </a:solidFill>
                <a:latin typeface="IBM Plex Sans" pitchFamily="34" charset="0"/>
                <a:ea typeface="IBM Plex Sans" pitchFamily="34" charset="-122"/>
                <a:cs typeface="IBM Plex Sans" pitchFamily="34" charset="-120"/>
              </a:rPr>
              <a:t>A TAC interpreter with one stack frame per call (locals and return address). An 8,000-step limit stops endless loops.</a:t>
            </a:r>
            <a:endParaRPr lang="en-US" sz="1300" dirty="0"/>
          </a:p>
        </p:txBody>
      </p:sp>
      <p:sp>
        <p:nvSpPr>
          <p:cNvPr id="19" name="Text 17"/>
          <p:cNvSpPr/>
          <p:nvPr/>
        </p:nvSpPr>
        <p:spPr>
          <a:xfrm>
            <a:off x="6222935" y="4859182"/>
            <a:ext cx="5049364" cy="253936"/>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2A541"/>
                </a:solidFill>
                <a:latin typeface="IBM Plex Sans" pitchFamily="34" charset="0"/>
                <a:ea typeface="IBM Plex Sans" pitchFamily="34" charset="-122"/>
                <a:cs typeface="IBM Plex Sans" pitchFamily="34" charset="-120"/>
              </a:rPr>
              <a:t>Error reporting</a:t>
            </a:r>
            <a:endParaRPr lang="en-US" sz="1500" dirty="0"/>
          </a:p>
        </p:txBody>
      </p:sp>
      <p:sp>
        <p:nvSpPr>
          <p:cNvPr id="20" name="Text 18"/>
          <p:cNvSpPr/>
          <p:nvPr/>
        </p:nvSpPr>
        <p:spPr>
          <a:xfrm>
            <a:off x="6222935" y="5151193"/>
            <a:ext cx="5049364"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4CAD3"/>
                </a:solidFill>
                <a:latin typeface="IBM Plex Sans" pitchFamily="34" charset="0"/>
                <a:ea typeface="IBM Plex Sans" pitchFamily="34" charset="-122"/>
                <a:cs typeface="IBM Plex Sans" pitchFamily="34" charset="-120"/>
              </a:rPr>
              <a:t>Every error is tagged Lexical, Syntax, Semantic or Runtime, with line and column. All 3 error samples are caught at the right phase.</a:t>
            </a:r>
            <a:endParaRPr lang="en-US" sz="1300" dirty="0"/>
          </a:p>
        </p:txBody>
      </p:sp>
      <p:sp>
        <p:nvSpPr>
          <p:cNvPr id="21" name="Text 19"/>
          <p:cNvSpPr/>
          <p:nvPr/>
        </p:nvSpPr>
        <p:spPr>
          <a:xfrm>
            <a:off x="812774" y="6238298"/>
            <a:ext cx="7194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3510"/>
                </a:solidFill>
                <a:latin typeface="IBM Plex Sans" pitchFamily="34" charset="0"/>
                <a:ea typeface="IBM Plex Sans" pitchFamily="34" charset="-122"/>
                <a:cs typeface="IBM Plex Sans" pitchFamily="34" charset="-120"/>
              </a:rPr>
              <a:t>PiGPL · BCSE307L Compiler Design</a:t>
            </a:r>
            <a:endParaRPr lang="en-US" sz="1200" dirty="0"/>
          </a:p>
        </p:txBody>
      </p:sp>
      <p:sp>
        <p:nvSpPr>
          <p:cNvPr id="22" name="Text 20"/>
          <p:cNvSpPr/>
          <p:nvPr/>
        </p:nvSpPr>
        <p:spPr>
          <a:xfrm>
            <a:off x="10058408" y="6238298"/>
            <a:ext cx="132079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3510"/>
                </a:solidFill>
                <a:latin typeface="JetBrains Mono" pitchFamily="49" charset="0"/>
                <a:ea typeface="JetBrains Mono" pitchFamily="49" charset="-122"/>
                <a:cs typeface="JetBrains Mono" pitchFamily="49" charset="-120"/>
              </a:rPr>
              <a:t>06 / 07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A"/>
        </a:solidFill>
        <a:effectLst/>
      </p:bgPr>
    </p:bg>
    <p:spTree>
      <p:nvGrpSpPr>
        <p:cNvPr id="1" name=""/>
        <p:cNvGrpSpPr/>
        <p:nvPr/>
      </p:nvGrpSpPr>
      <p:grpSpPr>
        <a:xfrm>
          <a:off x="0" y="0"/>
          <a:ext cx="0" cy="0"/>
          <a:chOff x="0" y="0"/>
          <a:chExt cx="0" cy="0"/>
        </a:xfrm>
      </p:grpSpPr>
      <p:sp>
        <p:nvSpPr>
          <p:cNvPr id="10" name="Shape 8"/>
          <p:cNvSpPr/>
          <p:nvPr/>
        </p:nvSpPr>
        <p:spPr>
          <a:xfrm>
            <a:off x="718989" y="2654159"/>
            <a:ext cx="10566425" cy="920666"/>
          </a:xfrm>
          <a:prstGeom prst="roundRect">
            <a:avLst>
              <a:gd name="adj" fmla="val 11035"/>
            </a:avLst>
          </a:prstGeom>
          <a:solidFill>
            <a:srgbClr val="12151B"/>
          </a:solidFill>
          <a:ln/>
        </p:spPr>
        <p:txBody>
          <a:bodyPr/>
          <a:lstStyle/>
          <a:p>
            <a:endParaRPr lang="en-IN" dirty="0"/>
          </a:p>
        </p:txBody>
      </p:sp>
      <p:sp>
        <p:nvSpPr>
          <p:cNvPr id="11" name="Text 9"/>
          <p:cNvSpPr/>
          <p:nvPr/>
        </p:nvSpPr>
        <p:spPr>
          <a:xfrm>
            <a:off x="972958" y="3007833"/>
            <a:ext cx="859589" cy="238720"/>
          </a:xfrm>
          <a:prstGeom prst="rect">
            <a:avLst/>
          </a:prstGeom>
          <a:noFill/>
          <a:ln/>
        </p:spPr>
        <p:txBody>
          <a:bodyPr wrap="none" lIns="0" tIns="0" rIns="0" bIns="0" rtlCol="0" anchor="t">
            <a:normAutofit/>
          </a:bodyPr>
          <a:lstStyle/>
          <a:p>
            <a:pPr marL="0" indent="0" algn="l">
              <a:lnSpc>
                <a:spcPts val="1680"/>
              </a:lnSpc>
              <a:buNone/>
            </a:pPr>
            <a:r>
              <a:rPr lang="en-US" sz="1200" kern="0" spc="100" dirty="0">
                <a:solidFill>
                  <a:srgbClr val="F2A541"/>
                </a:solidFill>
                <a:latin typeface="JetBrains Mono" pitchFamily="49" charset="0"/>
                <a:ea typeface="JetBrains Mono" pitchFamily="49" charset="-122"/>
                <a:cs typeface="JetBrains Mono" pitchFamily="49" charset="-120"/>
              </a:rPr>
              <a:t>TAKEAWAY</a:t>
            </a:r>
            <a:endParaRPr lang="en-US" sz="1200" dirty="0"/>
          </a:p>
        </p:txBody>
      </p:sp>
      <p:sp>
        <p:nvSpPr>
          <p:cNvPr id="12" name="Text 10"/>
          <p:cNvSpPr/>
          <p:nvPr/>
        </p:nvSpPr>
        <p:spPr>
          <a:xfrm>
            <a:off x="1915178" y="2976695"/>
            <a:ext cx="9370236" cy="53971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EF0F3"/>
                </a:solidFill>
                <a:latin typeface="IBM Plex Sans" pitchFamily="34" charset="0"/>
                <a:ea typeface="IBM Plex Sans" pitchFamily="34" charset="-122"/>
                <a:cs typeface="IBM Plex Sans" pitchFamily="34" charset="-120"/>
              </a:rPr>
              <a:t>PiGPL turns the textbook compiler pipeline into something you can run, watch and test, one phase at a time.</a:t>
            </a:r>
            <a:endParaRPr lang="en-US" sz="1500" dirty="0"/>
          </a:p>
        </p:txBody>
      </p:sp>
      <p:sp>
        <p:nvSpPr>
          <p:cNvPr id="13" name="Text 11"/>
          <p:cNvSpPr/>
          <p:nvPr/>
        </p:nvSpPr>
        <p:spPr>
          <a:xfrm>
            <a:off x="812774" y="6238295"/>
            <a:ext cx="7194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F78"/>
                </a:solidFill>
                <a:latin typeface="IBM Plex Sans" pitchFamily="34" charset="0"/>
                <a:ea typeface="IBM Plex Sans" pitchFamily="34" charset="-122"/>
                <a:cs typeface="IBM Plex Sans" pitchFamily="34" charset="-120"/>
              </a:rPr>
              <a:t>PiGPL · BCSE307L Compiler Design</a:t>
            </a:r>
            <a:endParaRPr lang="en-US" sz="1200" dirty="0"/>
          </a:p>
        </p:txBody>
      </p:sp>
      <p:sp>
        <p:nvSpPr>
          <p:cNvPr id="14" name="Text 12"/>
          <p:cNvSpPr/>
          <p:nvPr/>
        </p:nvSpPr>
        <p:spPr>
          <a:xfrm>
            <a:off x="10058408" y="6238295"/>
            <a:ext cx="132079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F78"/>
                </a:solidFill>
                <a:latin typeface="JetBrains Mono" pitchFamily="49" charset="0"/>
                <a:ea typeface="JetBrains Mono" pitchFamily="49" charset="-122"/>
                <a:cs typeface="JetBrains Mono" pitchFamily="49" charset="-120"/>
              </a:rPr>
              <a:t>07 / 07</a:t>
            </a:r>
            <a:endParaRPr lang="en-US" sz="1200" dirty="0"/>
          </a:p>
        </p:txBody>
      </p:sp>
    </p:spTree>
  </p:cSld>
  <p:clrMapOvr>
    <a:masterClrMapping/>
  </p:clrMapOvr>
</p:sld>
</file>

<file path=ppt/theme/theme1.xml><?xml version="1.0" encoding="utf-8"?>
<a:theme xmlns:a="http://schemas.openxmlformats.org/drawingml/2006/main" name="PiGPL Compiler Studio">
  <a:themeElements>
    <a:clrScheme name="PiGPL Compiler Studio">
      <a:dk1>
        <a:srgbClr val="161A21"/>
      </a:dk1>
      <a:lt1>
        <a:srgbClr val="F3F1EA"/>
      </a:lt1>
      <a:dk2>
        <a:srgbClr val="4D5053"/>
      </a:dk2>
      <a:lt2>
        <a:srgbClr val="DDDCD6"/>
      </a:lt2>
      <a:accent1>
        <a:srgbClr val="F2A541"/>
      </a:accent1>
      <a:accent2>
        <a:srgbClr val="1D3557"/>
      </a:accent2>
      <a:accent3>
        <a:srgbClr val="3A2A0C"/>
      </a:accent3>
      <a:accent4>
        <a:srgbClr val="9A520A"/>
      </a:accent4>
      <a:accent5>
        <a:srgbClr val="4A3510"/>
      </a:accent5>
      <a:accent6>
        <a:srgbClr val="F6E3C4"/>
      </a:accent6>
      <a:hlink>
        <a:srgbClr val="0563C1"/>
      </a:hlink>
      <a:folHlink>
        <a:srgbClr val="954F72"/>
      </a:folHlink>
    </a:clrScheme>
    <a:fontScheme name="PiGPL Compiler Studio">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TotalTime>
  <Words>1632</Words>
  <Application>Microsoft Office PowerPoint</Application>
  <PresentationFormat>Widescreen</PresentationFormat>
  <Paragraphs>137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IBM Plex Sans</vt:lpstr>
      <vt:lpstr>JetBrains Mono</vt:lpstr>
      <vt:lpstr>PiGPL Compiler Studio</vt:lpstr>
      <vt:lpstr>PiGPL</vt:lpstr>
      <vt:lpstr>One program, nine visible phases</vt:lpstr>
      <vt:lpstr>From characters to a tree</vt:lpstr>
      <vt:lpstr>Names, scopes and types</vt:lpstr>
      <vt:lpstr>Three-address code, then optimization</vt:lpstr>
      <vt:lpstr>Measured on the 10 valid sample programs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PiGPL Compiler Studio</dc:title>
  <dc:subject/>
  <dc:creator/>
  <cp:lastModifiedBy>Ratul Pal</cp:lastModifiedBy>
  <cp:revision>3</cp:revision>
  <dcterms:created xsi:type="dcterms:W3CDTF">2026-10-09T06:31:05Z</dcterms:created>
  <dcterms:modified xsi:type="dcterms:W3CDTF">2026-10-09T09:54:32Z</dcterms:modified>
</cp:coreProperties>
</file>